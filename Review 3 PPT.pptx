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D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0C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94360" y="594360"/>
            <a:ext cx="1325880" cy="320040"/>
          </a:xfrm>
          <a:prstGeom prst="roundRect">
            <a:avLst/>
          </a:prstGeom>
          <a:solidFill>
            <a:srgbClr val="112D45"/>
          </a:solidFill>
          <a:ln>
            <a:solidFill>
              <a:srgbClr val="1FA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rPr lang="en-IN" sz="1100" dirty="0"/>
              <a:t>REVIEW 3</a:t>
            </a:r>
            <a:endParaRPr sz="1100" dirty="0"/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1159764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"/>
              </a:defRPr>
            </a:pPr>
            <a:r>
              <a:rPr sz="5400" dirty="0"/>
              <a:t>Zero-Knowledge Proof Based</a:t>
            </a:r>
            <a:br>
              <a:rPr sz="5400" dirty="0"/>
            </a:br>
            <a:r>
              <a:rPr sz="5400" dirty="0"/>
              <a:t>Privacy Comp</a:t>
            </a:r>
            <a:r>
              <a:rPr lang="en-IN" sz="5400" dirty="0"/>
              <a:t>li</a:t>
            </a:r>
            <a:r>
              <a:rPr sz="5400" dirty="0" err="1"/>
              <a:t>ance</a:t>
            </a:r>
            <a:r>
              <a:rPr sz="5400" dirty="0"/>
              <a:t>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080206"/>
            <a:ext cx="9875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ADCE8"/>
                </a:solidFill>
                <a:latin typeface="Aptos"/>
              </a:defRPr>
            </a:pPr>
            <a:r>
              <a:rPr dirty="0"/>
              <a:t>UML Diagrams • Software Design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44068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ABECD"/>
                </a:solidFill>
                <a:latin typeface="Aptos"/>
              </a:defRPr>
            </a:pPr>
            <a:r>
              <a:rPr sz="1200" dirty="0"/>
              <a:t>Guide: Dr. M. </a:t>
            </a:r>
            <a:r>
              <a:rPr sz="1200" dirty="0" err="1"/>
              <a:t>Chalapathi</a:t>
            </a:r>
            <a:r>
              <a:rPr sz="1200" dirty="0"/>
              <a:t> Rao  |  Department of </a:t>
            </a:r>
            <a:r>
              <a:rPr lang="en-IN" sz="1200" dirty="0"/>
              <a:t>CSE (</a:t>
            </a:r>
            <a:r>
              <a:rPr sz="1200" dirty="0"/>
              <a:t>AI&amp;ML</a:t>
            </a:r>
            <a:r>
              <a:rPr lang="en-IN" sz="1200" dirty="0"/>
              <a:t>)</a:t>
            </a:r>
            <a:r>
              <a:rPr sz="1200" dirty="0"/>
              <a:t>  |  KPRIT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35508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AABECD"/>
                </a:solidFill>
                <a:latin typeface="Aptos"/>
              </a:defRPr>
            </a:pPr>
            <a:r>
              <a:t>PROJECT REVIEW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0202F86-8A75-606B-A027-DE80AA4356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0667956"/>
              </p:ext>
            </p:extLst>
          </p:nvPr>
        </p:nvGraphicFramePr>
        <p:xfrm>
          <a:off x="704909" y="4036426"/>
          <a:ext cx="5196205" cy="1346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23440">
                  <a:extLst>
                    <a:ext uri="{9D8B030D-6E8A-4147-A177-3AD203B41FA5}">
                      <a16:colId xmlns:a16="http://schemas.microsoft.com/office/drawing/2014/main" val="189334308"/>
                    </a:ext>
                  </a:extLst>
                </a:gridCol>
                <a:gridCol w="1465580">
                  <a:extLst>
                    <a:ext uri="{9D8B030D-6E8A-4147-A177-3AD203B41FA5}">
                      <a16:colId xmlns:a16="http://schemas.microsoft.com/office/drawing/2014/main" val="3144905172"/>
                    </a:ext>
                  </a:extLst>
                </a:gridCol>
                <a:gridCol w="1607185">
                  <a:extLst>
                    <a:ext uri="{9D8B030D-6E8A-4147-A177-3AD203B41FA5}">
                      <a16:colId xmlns:a16="http://schemas.microsoft.com/office/drawing/2014/main" val="5073306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380365" algn="ctr">
                        <a:buNone/>
                      </a:pPr>
                      <a:r>
                        <a:rPr lang="en-IN" sz="1100">
                          <a:effectLst/>
                        </a:rPr>
                        <a:t>Name of the Student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380365" algn="ctr">
                        <a:buNone/>
                      </a:pPr>
                      <a:r>
                        <a:rPr lang="en-IN" sz="1100">
                          <a:effectLst/>
                        </a:rPr>
                        <a:t>Roll Number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380365" algn="ctr">
                        <a:buNone/>
                      </a:pPr>
                      <a:r>
                        <a:rPr lang="en-IN" sz="1100">
                          <a:effectLst/>
                        </a:rPr>
                        <a:t>Role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325724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80365" algn="ctr">
                        <a:buNone/>
                      </a:pPr>
                      <a:r>
                        <a:rPr lang="en-IN" sz="1100">
                          <a:effectLst/>
                        </a:rPr>
                        <a:t>K. Prem Kumar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380365" algn="ctr">
                        <a:buNone/>
                      </a:pPr>
                      <a:r>
                        <a:rPr lang="en-IN" sz="1100">
                          <a:effectLst/>
                        </a:rPr>
                        <a:t>23RA1A6675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380365" algn="ctr">
                        <a:buNone/>
                      </a:pPr>
                      <a:r>
                        <a:rPr lang="en-IN" sz="1100">
                          <a:effectLst/>
                        </a:rPr>
                        <a:t>Team Lead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40569575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80365" algn="ctr">
                        <a:buNone/>
                      </a:pPr>
                      <a:r>
                        <a:rPr lang="en-IN" sz="1100">
                          <a:effectLst/>
                        </a:rPr>
                        <a:t>N. Rakesh Chary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380365" algn="ctr">
                        <a:buNone/>
                      </a:pPr>
                      <a:r>
                        <a:rPr lang="en-IN" sz="1100">
                          <a:effectLst/>
                        </a:rPr>
                        <a:t>23RA1A6682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380365" algn="ctr">
                        <a:buNone/>
                      </a:pPr>
                      <a:r>
                        <a:rPr lang="en-IN" sz="1100">
                          <a:effectLst/>
                        </a:rPr>
                        <a:t>Team Member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635516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80365" algn="ctr">
                        <a:buNone/>
                      </a:pPr>
                      <a:r>
                        <a:rPr lang="en-IN" sz="1100">
                          <a:effectLst/>
                        </a:rPr>
                        <a:t>K. Shivamani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380365" algn="ctr">
                        <a:buNone/>
                      </a:pPr>
                      <a:r>
                        <a:rPr lang="en-IN" sz="1100">
                          <a:effectLst/>
                        </a:rPr>
                        <a:t>23RA1A66A6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380365" algn="ctr">
                        <a:buNone/>
                      </a:pPr>
                      <a:r>
                        <a:rPr lang="en-IN" sz="1100">
                          <a:effectLst/>
                        </a:rPr>
                        <a:t>Team Member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6866347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80365" algn="ctr">
                        <a:buNone/>
                      </a:pPr>
                      <a:r>
                        <a:rPr lang="en-IN" sz="1100">
                          <a:effectLst/>
                        </a:rPr>
                        <a:t>G. Shashank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380365" algn="ctr">
                        <a:buNone/>
                      </a:pPr>
                      <a:r>
                        <a:rPr lang="en-IN" sz="1100">
                          <a:effectLst/>
                        </a:rPr>
                        <a:t>23RA1A6693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380365" algn="ctr">
                        <a:buNone/>
                      </a:pPr>
                      <a:r>
                        <a:rPr lang="en-IN" sz="1100" dirty="0">
                          <a:effectLst/>
                        </a:rPr>
                        <a:t>Team Member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68171815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561320" y="109728"/>
            <a:ext cx="1051560" cy="256032"/>
          </a:xfrm>
          <a:prstGeom prst="roundRect">
            <a:avLst/>
          </a:prstGeom>
          <a:solidFill>
            <a:srgbClr val="112D45"/>
          </a:solidFill>
          <a:ln w="10160">
            <a:solidFill>
              <a:srgbClr val="1FA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UML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12D45"/>
                </a:solidFill>
                <a:latin typeface="Aptos Display"/>
              </a:defRPr>
            </a:pPr>
            <a:r>
              <a:t>Use Case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640080" cy="41148"/>
          </a:xfrm>
          <a:prstGeom prst="rect">
            <a:avLst/>
          </a:prstGeom>
          <a:solidFill>
            <a:srgbClr val="1FA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C6C78"/>
                </a:solidFill>
              </a:defRPr>
            </a:pPr>
            <a:r>
              <a:t>Zero-Knowledge Proof Based Privacy Compliance System  •  KPRIT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5C6C78"/>
                </a:solidFill>
              </a:defRPr>
            </a:pPr>
            <a: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2057400" y="1600200"/>
            <a:ext cx="8046720" cy="4343400"/>
          </a:xfrm>
          <a:prstGeom prst="rect">
            <a:avLst/>
          </a:prstGeom>
          <a:solidFill>
            <a:srgbClr val="FFFFFF"/>
          </a:solidFill>
          <a:ln w="15240">
            <a:solidFill>
              <a:srgbClr val="11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86000" y="1691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2D45"/>
                </a:solidFill>
                <a:latin typeface="Aptos"/>
              </a:defRPr>
            </a:pPr>
            <a:r>
              <a:t>Privacy Compliance System</a:t>
            </a:r>
          </a:p>
        </p:txBody>
      </p:sp>
      <p:sp>
        <p:nvSpPr>
          <p:cNvPr id="10" name="Oval 9"/>
          <p:cNvSpPr/>
          <p:nvPr/>
        </p:nvSpPr>
        <p:spPr>
          <a:xfrm>
            <a:off x="804672" y="274320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Connector 10"/>
          <p:cNvCxnSpPr/>
          <p:nvPr/>
        </p:nvCxnSpPr>
        <p:spPr>
          <a:xfrm>
            <a:off x="941832" y="3017520"/>
            <a:ext cx="0" cy="365760"/>
          </a:xfrm>
          <a:prstGeom prst="line">
            <a:avLst/>
          </a:prstGeom>
          <a:ln w="15240">
            <a:solidFill>
              <a:srgbClr val="11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667512" y="3127248"/>
            <a:ext cx="274320" cy="137160"/>
          </a:xfrm>
          <a:prstGeom prst="line">
            <a:avLst/>
          </a:prstGeom>
          <a:ln w="15240">
            <a:solidFill>
              <a:srgbClr val="11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41832" y="3127248"/>
            <a:ext cx="274320" cy="137160"/>
          </a:xfrm>
          <a:prstGeom prst="line">
            <a:avLst/>
          </a:prstGeom>
          <a:ln w="15240">
            <a:solidFill>
              <a:srgbClr val="11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731520" y="3383280"/>
            <a:ext cx="210312" cy="256032"/>
          </a:xfrm>
          <a:prstGeom prst="line">
            <a:avLst/>
          </a:prstGeom>
          <a:ln w="15240">
            <a:solidFill>
              <a:srgbClr val="11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41832" y="3383280"/>
            <a:ext cx="210312" cy="256032"/>
          </a:xfrm>
          <a:prstGeom prst="line">
            <a:avLst/>
          </a:prstGeom>
          <a:ln w="15240">
            <a:solidFill>
              <a:srgbClr val="11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" y="3657600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12D45"/>
                </a:solidFill>
                <a:latin typeface="Aptos"/>
              </a:defRPr>
            </a:pPr>
            <a:r>
              <a:t>Data Owner /</a:t>
            </a:r>
            <a:br/>
            <a:r>
              <a:t>User</a:t>
            </a:r>
          </a:p>
        </p:txBody>
      </p:sp>
      <p:sp>
        <p:nvSpPr>
          <p:cNvPr id="17" name="Oval 16"/>
          <p:cNvSpPr/>
          <p:nvPr/>
        </p:nvSpPr>
        <p:spPr>
          <a:xfrm>
            <a:off x="10588752" y="274320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" name="Connector 17"/>
          <p:cNvCxnSpPr/>
          <p:nvPr/>
        </p:nvCxnSpPr>
        <p:spPr>
          <a:xfrm>
            <a:off x="10725912" y="3017520"/>
            <a:ext cx="0" cy="365760"/>
          </a:xfrm>
          <a:prstGeom prst="line">
            <a:avLst/>
          </a:prstGeom>
          <a:ln w="15240">
            <a:solidFill>
              <a:srgbClr val="11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10451592" y="3127248"/>
            <a:ext cx="274320" cy="137160"/>
          </a:xfrm>
          <a:prstGeom prst="line">
            <a:avLst/>
          </a:prstGeom>
          <a:ln w="15240">
            <a:solidFill>
              <a:srgbClr val="11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725912" y="3127248"/>
            <a:ext cx="274320" cy="137160"/>
          </a:xfrm>
          <a:prstGeom prst="line">
            <a:avLst/>
          </a:prstGeom>
          <a:ln w="15240">
            <a:solidFill>
              <a:srgbClr val="11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0515600" y="3383280"/>
            <a:ext cx="210312" cy="256032"/>
          </a:xfrm>
          <a:prstGeom prst="line">
            <a:avLst/>
          </a:prstGeom>
          <a:ln w="15240">
            <a:solidFill>
              <a:srgbClr val="11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725912" y="3383280"/>
            <a:ext cx="210312" cy="256032"/>
          </a:xfrm>
          <a:prstGeom prst="line">
            <a:avLst/>
          </a:prstGeom>
          <a:ln w="15240">
            <a:solidFill>
              <a:srgbClr val="11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332719" y="3657600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12D45"/>
                </a:solidFill>
                <a:latin typeface="Aptos"/>
              </a:defRPr>
            </a:pPr>
            <a:r>
              <a:t>Regulator /</a:t>
            </a:r>
            <a:br/>
            <a:r>
              <a:t>Verifier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14600" y="2240280"/>
            <a:ext cx="1600200" cy="658368"/>
          </a:xfrm>
          <a:prstGeom prst="rect">
            <a:avLst/>
          </a:prstGeom>
          <a:solidFill>
            <a:srgbClr val="EBF1FB"/>
          </a:solidFill>
          <a:ln w="15240">
            <a:solidFill>
              <a:srgbClr val="376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50" b="0">
                <a:solidFill>
                  <a:srgbClr val="1C3040"/>
                </a:solidFill>
                <a:latin typeface="Aptos"/>
              </a:defRPr>
            </a:pPr>
            <a:r>
              <a:t>Submit Compliance</a:t>
            </a:r>
            <a:br/>
            <a:r>
              <a:t>Data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17720" y="2240280"/>
            <a:ext cx="1600200" cy="658368"/>
          </a:xfrm>
          <a:prstGeom prst="rect">
            <a:avLst/>
          </a:prstGeom>
          <a:solidFill>
            <a:srgbClr val="F4EEFC"/>
          </a:solidFill>
          <a:ln w="15240">
            <a:solidFill>
              <a:srgbClr val="844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50" b="0">
                <a:solidFill>
                  <a:srgbClr val="1C3040"/>
                </a:solidFill>
                <a:latin typeface="Aptos"/>
              </a:defRPr>
            </a:pPr>
            <a:r>
              <a:t>Manage</a:t>
            </a:r>
            <a:br/>
            <a:r>
              <a:t>Consent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0840" y="2240280"/>
            <a:ext cx="1600200" cy="658368"/>
          </a:xfrm>
          <a:prstGeom prst="rect">
            <a:avLst/>
          </a:prstGeom>
          <a:solidFill>
            <a:srgbClr val="EBF1FB"/>
          </a:solidFill>
          <a:ln w="15240">
            <a:solidFill>
              <a:srgbClr val="376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50" b="0">
                <a:solidFill>
                  <a:srgbClr val="1C3040"/>
                </a:solidFill>
                <a:latin typeface="Aptos"/>
              </a:defRPr>
            </a:pPr>
            <a:r>
              <a:t>Initiate Compliance</a:t>
            </a:r>
            <a:br/>
            <a:r>
              <a:t>Request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14600" y="3383280"/>
            <a:ext cx="1600200" cy="658368"/>
          </a:xfrm>
          <a:prstGeom prst="rect">
            <a:avLst/>
          </a:prstGeom>
          <a:solidFill>
            <a:srgbClr val="F4EEFC"/>
          </a:solidFill>
          <a:ln w="15240">
            <a:solidFill>
              <a:srgbClr val="844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50" b="0">
                <a:solidFill>
                  <a:srgbClr val="1C3040"/>
                </a:solidFill>
                <a:latin typeface="Aptos"/>
              </a:defRPr>
            </a:pPr>
            <a:r>
              <a:t>Generate ZK</a:t>
            </a:r>
            <a:br/>
            <a:r>
              <a:t>Proof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17720" y="3383280"/>
            <a:ext cx="1600200" cy="658368"/>
          </a:xfrm>
          <a:prstGeom prst="rect">
            <a:avLst/>
          </a:prstGeom>
          <a:solidFill>
            <a:srgbClr val="EBF8F2"/>
          </a:solidFill>
          <a:ln w="15240">
            <a:solidFill>
              <a:srgbClr val="22B2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50" b="0">
                <a:solidFill>
                  <a:srgbClr val="1C3040"/>
                </a:solidFill>
                <a:latin typeface="Aptos"/>
              </a:defRPr>
            </a:pPr>
            <a:r>
              <a:t>Verify</a:t>
            </a:r>
            <a:br/>
            <a:r>
              <a:t>Compliance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20840" y="3383280"/>
            <a:ext cx="1600200" cy="658368"/>
          </a:xfrm>
          <a:prstGeom prst="rect">
            <a:avLst/>
          </a:prstGeom>
          <a:solidFill>
            <a:srgbClr val="FDF5E8"/>
          </a:solidFill>
          <a:ln w="15240">
            <a:solidFill>
              <a:srgbClr val="E08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50" b="0">
                <a:solidFill>
                  <a:srgbClr val="1C3040"/>
                </a:solidFill>
                <a:latin typeface="Aptos"/>
              </a:defRPr>
            </a:pPr>
            <a:r>
              <a:t>Anchor Proof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20440" y="4572000"/>
            <a:ext cx="1600200" cy="658368"/>
          </a:xfrm>
          <a:prstGeom prst="rect">
            <a:avLst/>
          </a:prstGeom>
          <a:solidFill>
            <a:srgbClr val="EBF1FB"/>
          </a:solidFill>
          <a:ln w="15240">
            <a:solidFill>
              <a:srgbClr val="376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50" b="0">
                <a:solidFill>
                  <a:srgbClr val="1C3040"/>
                </a:solidFill>
                <a:latin typeface="Aptos"/>
              </a:defRPr>
            </a:pPr>
            <a:r>
              <a:t>View Proof</a:t>
            </a:r>
            <a:br/>
            <a:r>
              <a:t>Status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23560" y="4572000"/>
            <a:ext cx="1600200" cy="658368"/>
          </a:xfrm>
          <a:prstGeom prst="rect">
            <a:avLst/>
          </a:prstGeom>
          <a:solidFill>
            <a:srgbClr val="EBF8F2"/>
          </a:solidFill>
          <a:ln w="15240">
            <a:solidFill>
              <a:srgbClr val="22B2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50" b="0">
                <a:solidFill>
                  <a:srgbClr val="1C3040"/>
                </a:solidFill>
                <a:latin typeface="Aptos"/>
              </a:defRPr>
            </a:pPr>
            <a:r>
              <a:t>View Audit</a:t>
            </a:r>
            <a:br/>
            <a:r>
              <a:t>Trail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26679" y="4572000"/>
            <a:ext cx="1600200" cy="658368"/>
          </a:xfrm>
          <a:prstGeom prst="rect">
            <a:avLst/>
          </a:prstGeom>
          <a:solidFill>
            <a:srgbClr val="FDF5E8"/>
          </a:solidFill>
          <a:ln w="15240">
            <a:solidFill>
              <a:srgbClr val="E08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50" b="0">
                <a:solidFill>
                  <a:srgbClr val="1C3040"/>
                </a:solidFill>
                <a:latin typeface="Aptos"/>
              </a:defRPr>
            </a:pPr>
            <a:r>
              <a:t>Compliance Analytics /</a:t>
            </a:r>
            <a:br/>
            <a:r>
              <a:t>Certificate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1143000" y="2569464"/>
            <a:ext cx="1371600" cy="676656"/>
          </a:xfrm>
          <a:prstGeom prst="line">
            <a:avLst/>
          </a:prstGeom>
          <a:ln w="15240">
            <a:solidFill>
              <a:srgbClr val="11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1143000" y="2569464"/>
            <a:ext cx="3474720" cy="676656"/>
          </a:xfrm>
          <a:prstGeom prst="line">
            <a:avLst/>
          </a:prstGeom>
          <a:ln w="15240">
            <a:solidFill>
              <a:srgbClr val="11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143000" y="2569464"/>
            <a:ext cx="5577840" cy="676656"/>
          </a:xfrm>
          <a:prstGeom prst="line">
            <a:avLst/>
          </a:prstGeom>
          <a:ln w="15240">
            <a:solidFill>
              <a:srgbClr val="11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143000" y="3246120"/>
            <a:ext cx="1371600" cy="466344"/>
          </a:xfrm>
          <a:prstGeom prst="line">
            <a:avLst/>
          </a:prstGeom>
          <a:ln w="15240">
            <a:solidFill>
              <a:srgbClr val="11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6217920" y="3246120"/>
            <a:ext cx="3977640" cy="466344"/>
          </a:xfrm>
          <a:prstGeom prst="line">
            <a:avLst/>
          </a:prstGeom>
          <a:ln w="15240">
            <a:solidFill>
              <a:srgbClr val="11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8321040" y="3246120"/>
            <a:ext cx="1874520" cy="466344"/>
          </a:xfrm>
          <a:prstGeom prst="line">
            <a:avLst/>
          </a:prstGeom>
          <a:ln w="15240">
            <a:solidFill>
              <a:srgbClr val="11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5120640" y="3246120"/>
            <a:ext cx="5074920" cy="1655064"/>
          </a:xfrm>
          <a:prstGeom prst="line">
            <a:avLst/>
          </a:prstGeom>
          <a:ln w="15240">
            <a:solidFill>
              <a:srgbClr val="11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7223760" y="3246120"/>
            <a:ext cx="2971800" cy="1655064"/>
          </a:xfrm>
          <a:prstGeom prst="line">
            <a:avLst/>
          </a:prstGeom>
          <a:ln w="15240">
            <a:solidFill>
              <a:srgbClr val="11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9326880" y="3246120"/>
            <a:ext cx="868680" cy="1655064"/>
          </a:xfrm>
          <a:prstGeom prst="line">
            <a:avLst/>
          </a:prstGeom>
          <a:ln w="15240">
            <a:solidFill>
              <a:srgbClr val="11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5400" y="-13716"/>
            <a:ext cx="12191695" cy="502920"/>
          </a:xfrm>
          <a:prstGeom prst="rect">
            <a:avLst/>
          </a:prstGeom>
          <a:solidFill>
            <a:srgbClr val="11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561320" y="109728"/>
            <a:ext cx="1051560" cy="256032"/>
          </a:xfrm>
          <a:prstGeom prst="roundRect">
            <a:avLst/>
          </a:prstGeom>
          <a:solidFill>
            <a:srgbClr val="112D45"/>
          </a:solidFill>
          <a:ln w="10160">
            <a:solidFill>
              <a:srgbClr val="1FA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7504811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12D45"/>
                </a:solidFill>
                <a:latin typeface="Aptos Display"/>
              </a:defRPr>
            </a:pPr>
            <a:r>
              <a:rPr dirty="0"/>
              <a:t>Activity Diagram — Comp</a:t>
            </a:r>
            <a:r>
              <a:rPr lang="en-IN" dirty="0"/>
              <a:t>il</a:t>
            </a:r>
            <a:r>
              <a:rPr dirty="0" err="1"/>
              <a:t>ance</a:t>
            </a:r>
            <a:r>
              <a:rPr dirty="0"/>
              <a:t> Verification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640080" cy="41148"/>
          </a:xfrm>
          <a:prstGeom prst="rect">
            <a:avLst/>
          </a:prstGeom>
          <a:solidFill>
            <a:srgbClr val="1FA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C6C78"/>
                </a:solidFill>
              </a:defRPr>
            </a:pPr>
            <a:r>
              <a:t>Zero-Knowledge Proof Based Privacy Compliance System  •  KPRIT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5C6C78"/>
                </a:solidFill>
              </a:defRPr>
            </a:pPr>
            <a:r>
              <a:t>3</a:t>
            </a:r>
          </a:p>
        </p:txBody>
      </p:sp>
      <p:sp>
        <p:nvSpPr>
          <p:cNvPr id="8" name="Oval 7"/>
          <p:cNvSpPr/>
          <p:nvPr/>
        </p:nvSpPr>
        <p:spPr>
          <a:xfrm>
            <a:off x="5120640" y="1508760"/>
            <a:ext cx="292608" cy="292608"/>
          </a:xfrm>
          <a:prstGeom prst="ellipse">
            <a:avLst/>
          </a:prstGeom>
          <a:solidFill>
            <a:srgbClr val="112D45"/>
          </a:solidFill>
          <a:ln>
            <a:solidFill>
              <a:srgbClr val="11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671320" y="1394460"/>
            <a:ext cx="2377440" cy="4754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A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1C3040"/>
                </a:solidFill>
                <a:latin typeface="Aptos"/>
              </a:defRPr>
            </a:pPr>
            <a:r>
              <a:rPr dirty="0"/>
              <a:t>Data Input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00600" y="1417320"/>
            <a:ext cx="2377440" cy="4754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A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1C3040"/>
                </a:solidFill>
                <a:latin typeface="Aptos"/>
              </a:defRPr>
            </a:pPr>
            <a:r>
              <a:t>Preprocessing</a:t>
            </a:r>
          </a:p>
        </p:txBody>
      </p:sp>
      <p:cxnSp>
        <p:nvCxnSpPr>
          <p:cNvPr id="12" name="Connector 11"/>
          <p:cNvCxnSpPr>
            <a:cxnSpLocks/>
            <a:stCxn id="11" idx="1"/>
            <a:endCxn id="9" idx="3"/>
          </p:cNvCxnSpPr>
          <p:nvPr/>
        </p:nvCxnSpPr>
        <p:spPr>
          <a:xfrm flipH="1" flipV="1">
            <a:off x="4048760" y="1632204"/>
            <a:ext cx="751840" cy="22860"/>
          </a:xfrm>
          <a:prstGeom prst="line">
            <a:avLst/>
          </a:prstGeom>
          <a:ln w="19050">
            <a:solidFill>
              <a:srgbClr val="11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800600" y="2103120"/>
            <a:ext cx="2377440" cy="4754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A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1C3040"/>
                </a:solidFill>
                <a:latin typeface="Aptos"/>
              </a:defRPr>
            </a:pPr>
            <a:r>
              <a:t>Witness Generation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89320" y="1892807"/>
            <a:ext cx="0" cy="210313"/>
          </a:xfrm>
          <a:prstGeom prst="line">
            <a:avLst/>
          </a:prstGeom>
          <a:ln w="19050">
            <a:solidFill>
              <a:srgbClr val="11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800600" y="2788920"/>
            <a:ext cx="2377440" cy="4754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A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1C3040"/>
                </a:solidFill>
                <a:latin typeface="Aptos"/>
              </a:defRPr>
            </a:pPr>
            <a:r>
              <a:t>ZK-SNARK Proof Generation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89320" y="2578608"/>
            <a:ext cx="0" cy="210312"/>
          </a:xfrm>
          <a:prstGeom prst="line">
            <a:avLst/>
          </a:prstGeom>
          <a:ln w="19050">
            <a:solidFill>
              <a:srgbClr val="11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800600" y="3474720"/>
            <a:ext cx="2377440" cy="4754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2B2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1C3040"/>
                </a:solidFill>
                <a:latin typeface="Aptos"/>
              </a:defRPr>
            </a:pPr>
            <a:r>
              <a:t>Proof Submission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89320" y="3264408"/>
            <a:ext cx="0" cy="210312"/>
          </a:xfrm>
          <a:prstGeom prst="line">
            <a:avLst/>
          </a:prstGeom>
          <a:ln w="19050">
            <a:solidFill>
              <a:srgbClr val="11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800600" y="4160520"/>
            <a:ext cx="2377440" cy="4754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2B2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1C3040"/>
                </a:solidFill>
                <a:latin typeface="Aptos"/>
              </a:defRPr>
            </a:pPr>
            <a:r>
              <a:t>On-chain Verification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89320" y="3950207"/>
            <a:ext cx="0" cy="210313"/>
          </a:xfrm>
          <a:prstGeom prst="line">
            <a:avLst/>
          </a:prstGeom>
          <a:ln w="19050">
            <a:solidFill>
              <a:srgbClr val="11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Diamond 20"/>
          <p:cNvSpPr/>
          <p:nvPr/>
        </p:nvSpPr>
        <p:spPr>
          <a:xfrm>
            <a:off x="5074920" y="4800600"/>
            <a:ext cx="1828800" cy="777240"/>
          </a:xfrm>
          <a:prstGeom prst="diamond">
            <a:avLst/>
          </a:prstGeom>
          <a:solidFill>
            <a:srgbClr val="FFFFFF"/>
          </a:solidFill>
          <a:ln>
            <a:solidFill>
              <a:srgbClr val="11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12D45"/>
                </a:solidFill>
              </a:defRPr>
            </a:pPr>
            <a:r>
              <a:t>Proof Valid?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89320" y="4636008"/>
            <a:ext cx="0" cy="164592"/>
          </a:xfrm>
          <a:prstGeom prst="line">
            <a:avLst/>
          </a:prstGeom>
          <a:ln w="19050">
            <a:solidFill>
              <a:srgbClr val="11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635240" y="4956048"/>
            <a:ext cx="1920240" cy="475488"/>
          </a:xfrm>
          <a:prstGeom prst="roundRect">
            <a:avLst/>
          </a:prstGeom>
          <a:solidFill>
            <a:srgbClr val="FCEFEF"/>
          </a:solidFill>
          <a:ln w="15240">
            <a:solidFill>
              <a:srgbClr val="D7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50" b="1">
                <a:solidFill>
                  <a:srgbClr val="1C3040"/>
                </a:solidFill>
                <a:latin typeface="Aptos"/>
              </a:defRPr>
            </a:pPr>
            <a:r>
              <a:t>Verification Failed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0" y="5715000"/>
            <a:ext cx="1920240" cy="475488"/>
          </a:xfrm>
          <a:prstGeom prst="roundRect">
            <a:avLst/>
          </a:prstGeom>
          <a:solidFill>
            <a:srgbClr val="EBF8F2"/>
          </a:solidFill>
          <a:ln w="15240">
            <a:solidFill>
              <a:srgbClr val="22B2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50" b="1">
                <a:solidFill>
                  <a:srgbClr val="1C3040"/>
                </a:solidFill>
                <a:latin typeface="Aptos"/>
              </a:defRPr>
            </a:pPr>
            <a:r>
              <a:t>Blockchain Anchoring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903720" y="5184648"/>
            <a:ext cx="731520" cy="0"/>
          </a:xfrm>
          <a:prstGeom prst="line">
            <a:avLst/>
          </a:prstGeom>
          <a:ln w="19050">
            <a:solidFill>
              <a:srgbClr val="11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989320" y="5577840"/>
            <a:ext cx="0" cy="137160"/>
          </a:xfrm>
          <a:prstGeom prst="line">
            <a:avLst/>
          </a:prstGeom>
          <a:ln w="19050">
            <a:solidFill>
              <a:srgbClr val="11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629400" y="46177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D74C4C"/>
                </a:solidFill>
                <a:latin typeface="Aptos"/>
              </a:defRPr>
            </a:pPr>
            <a:r>
              <a:t>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5486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22B27E"/>
                </a:solidFill>
                <a:latin typeface="Aptos"/>
              </a:defRPr>
            </a:pPr>
            <a:r>
              <a:t>Yes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5715000"/>
            <a:ext cx="2377440" cy="475488"/>
          </a:xfrm>
          <a:prstGeom prst="roundRect">
            <a:avLst/>
          </a:prstGeom>
          <a:solidFill>
            <a:srgbClr val="EBF1FB"/>
          </a:solidFill>
          <a:ln w="15240">
            <a:solidFill>
              <a:srgbClr val="376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50" b="1">
                <a:solidFill>
                  <a:srgbClr val="1C3040"/>
                </a:solidFill>
                <a:latin typeface="Aptos"/>
              </a:defRPr>
            </a:pPr>
            <a:r>
              <a:t>Compliance Result / Attestation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49440" y="5952744"/>
            <a:ext cx="1280160" cy="0"/>
          </a:xfrm>
          <a:prstGeom prst="line">
            <a:avLst/>
          </a:prstGeom>
          <a:ln w="19050">
            <a:solidFill>
              <a:srgbClr val="11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561320" y="109728"/>
            <a:ext cx="1051560" cy="256032"/>
          </a:xfrm>
          <a:prstGeom prst="roundRect">
            <a:avLst/>
          </a:prstGeom>
          <a:solidFill>
            <a:srgbClr val="112D45"/>
          </a:solidFill>
          <a:ln w="10160">
            <a:solidFill>
              <a:srgbClr val="1FA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INTERACTION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12D45"/>
                </a:solidFill>
                <a:latin typeface="Aptos Display"/>
              </a:defRPr>
            </a:pPr>
            <a:r>
              <a:t>Sequence Diagram — ZK Compliance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640080" cy="41148"/>
          </a:xfrm>
          <a:prstGeom prst="rect">
            <a:avLst/>
          </a:prstGeom>
          <a:solidFill>
            <a:srgbClr val="1FA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C6C78"/>
                </a:solidFill>
              </a:defRPr>
            </a:pPr>
            <a:r>
              <a:t>Zero-Knowledge Proof Based Privacy Compliance System  •  KPRIT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5C6C78"/>
                </a:solidFill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08760"/>
            <a:ext cx="1143000" cy="475488"/>
          </a:xfrm>
          <a:prstGeom prst="roundRect">
            <a:avLst/>
          </a:prstGeom>
          <a:solidFill>
            <a:srgbClr val="EBF1FB"/>
          </a:solidFill>
          <a:ln w="15240">
            <a:solidFill>
              <a:srgbClr val="376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50" b="1">
                <a:solidFill>
                  <a:srgbClr val="1C3040"/>
                </a:solidFill>
                <a:latin typeface="Aptos"/>
              </a:defRPr>
            </a:pPr>
            <a:r>
              <a:t>Data Owner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4420" y="1984248"/>
            <a:ext cx="0" cy="4096512"/>
          </a:xfrm>
          <a:prstGeom prst="line">
            <a:avLst/>
          </a:prstGeom>
          <a:ln w="15240">
            <a:solidFill>
              <a:srgbClr val="5C6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057400" y="1508760"/>
            <a:ext cx="1143000" cy="475488"/>
          </a:xfrm>
          <a:prstGeom prst="roundRect">
            <a:avLst/>
          </a:prstGeom>
          <a:solidFill>
            <a:srgbClr val="EBF1FB"/>
          </a:solidFill>
          <a:ln w="15240">
            <a:solidFill>
              <a:srgbClr val="376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50" b="1">
                <a:solidFill>
                  <a:srgbClr val="1C3040"/>
                </a:solidFill>
                <a:latin typeface="Aptos"/>
              </a:defRPr>
            </a:pPr>
            <a:r>
              <a:t>React Client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28900" y="1984248"/>
            <a:ext cx="0" cy="4096512"/>
          </a:xfrm>
          <a:prstGeom prst="line">
            <a:avLst/>
          </a:prstGeom>
          <a:ln w="15240">
            <a:solidFill>
              <a:srgbClr val="5C6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657600" y="1508760"/>
            <a:ext cx="1143000" cy="475488"/>
          </a:xfrm>
          <a:prstGeom prst="roundRect">
            <a:avLst/>
          </a:prstGeom>
          <a:solidFill>
            <a:srgbClr val="EBF1FB"/>
          </a:solidFill>
          <a:ln w="15240">
            <a:solidFill>
              <a:srgbClr val="376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50" b="1">
                <a:solidFill>
                  <a:srgbClr val="1C3040"/>
                </a:solidFill>
                <a:latin typeface="Aptos"/>
              </a:defRPr>
            </a:pPr>
            <a:r>
              <a:t>API /</a:t>
            </a:r>
            <a:br/>
            <a:r>
              <a:t>Orchestrator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29100" y="1984248"/>
            <a:ext cx="0" cy="4096512"/>
          </a:xfrm>
          <a:prstGeom prst="line">
            <a:avLst/>
          </a:prstGeom>
          <a:ln w="15240">
            <a:solidFill>
              <a:srgbClr val="5C6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257800" y="1508760"/>
            <a:ext cx="1143000" cy="475488"/>
          </a:xfrm>
          <a:prstGeom prst="roundRect">
            <a:avLst/>
          </a:prstGeom>
          <a:solidFill>
            <a:srgbClr val="EBF1FB"/>
          </a:solidFill>
          <a:ln w="15240">
            <a:solidFill>
              <a:srgbClr val="376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50" b="1">
                <a:solidFill>
                  <a:srgbClr val="1C3040"/>
                </a:solidFill>
                <a:latin typeface="Aptos"/>
              </a:defRPr>
            </a:pPr>
            <a:r>
              <a:t>ZKP Engine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29300" y="1984248"/>
            <a:ext cx="0" cy="4096512"/>
          </a:xfrm>
          <a:prstGeom prst="line">
            <a:avLst/>
          </a:prstGeom>
          <a:ln w="15240">
            <a:solidFill>
              <a:srgbClr val="5C6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903720" y="1508760"/>
            <a:ext cx="1143000" cy="475488"/>
          </a:xfrm>
          <a:prstGeom prst="roundRect">
            <a:avLst/>
          </a:prstGeom>
          <a:solidFill>
            <a:srgbClr val="EBF1FB"/>
          </a:solidFill>
          <a:ln w="15240">
            <a:solidFill>
              <a:srgbClr val="376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50" b="1">
                <a:solidFill>
                  <a:srgbClr val="1C3040"/>
                </a:solidFill>
                <a:latin typeface="Aptos"/>
              </a:defRPr>
            </a:pPr>
            <a:r>
              <a:t>Smart</a:t>
            </a:r>
            <a:br/>
            <a:r>
              <a:t>Contract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475220" y="1984248"/>
            <a:ext cx="0" cy="4096512"/>
          </a:xfrm>
          <a:prstGeom prst="line">
            <a:avLst/>
          </a:prstGeom>
          <a:ln w="15240">
            <a:solidFill>
              <a:srgbClr val="5C6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458200" y="1508760"/>
            <a:ext cx="1143000" cy="475488"/>
          </a:xfrm>
          <a:prstGeom prst="roundRect">
            <a:avLst/>
          </a:prstGeom>
          <a:solidFill>
            <a:srgbClr val="EBF1FB"/>
          </a:solidFill>
          <a:ln w="15240">
            <a:solidFill>
              <a:srgbClr val="376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50" b="1">
                <a:solidFill>
                  <a:srgbClr val="1C3040"/>
                </a:solidFill>
                <a:latin typeface="Aptos"/>
              </a:defRPr>
            </a:pPr>
            <a:r>
              <a:t>Blockchain</a:t>
            </a:r>
            <a:br/>
            <a:r>
              <a:t>Ledger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029700" y="1984248"/>
            <a:ext cx="0" cy="4096512"/>
          </a:xfrm>
          <a:prstGeom prst="line">
            <a:avLst/>
          </a:prstGeom>
          <a:ln w="15240">
            <a:solidFill>
              <a:srgbClr val="5C6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104120" y="1508760"/>
            <a:ext cx="1143000" cy="475488"/>
          </a:xfrm>
          <a:prstGeom prst="roundRect">
            <a:avLst/>
          </a:prstGeom>
          <a:solidFill>
            <a:srgbClr val="EBF1FB"/>
          </a:solidFill>
          <a:ln w="15240">
            <a:solidFill>
              <a:srgbClr val="376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50" b="1">
                <a:solidFill>
                  <a:srgbClr val="1C3040"/>
                </a:solidFill>
                <a:latin typeface="Aptos"/>
              </a:defRPr>
            </a:pPr>
            <a:r>
              <a:t>Regulator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675620" y="1984248"/>
            <a:ext cx="0" cy="4096512"/>
          </a:xfrm>
          <a:prstGeom prst="line">
            <a:avLst/>
          </a:prstGeom>
          <a:ln w="15240">
            <a:solidFill>
              <a:srgbClr val="5C6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78992" y="2331720"/>
            <a:ext cx="1554480" cy="0"/>
          </a:xfrm>
          <a:prstGeom prst="line">
            <a:avLst/>
          </a:prstGeom>
          <a:ln w="19050">
            <a:solidFill>
              <a:srgbClr val="11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94360" y="2167127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80" b="0">
                <a:solidFill>
                  <a:srgbClr val="1C3040"/>
                </a:solidFill>
                <a:latin typeface="Aptos"/>
              </a:defRPr>
            </a:pPr>
            <a:r>
              <a:t>Submit compliance data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633472" y="2880360"/>
            <a:ext cx="1600200" cy="0"/>
          </a:xfrm>
          <a:prstGeom prst="line">
            <a:avLst/>
          </a:prstGeom>
          <a:ln w="19050">
            <a:solidFill>
              <a:srgbClr val="11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148840" y="2715768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80" b="0">
                <a:solidFill>
                  <a:srgbClr val="1C3040"/>
                </a:solidFill>
                <a:latin typeface="Aptos"/>
              </a:defRPr>
            </a:pPr>
            <a:r>
              <a:t>POST /submit-data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233672" y="3429000"/>
            <a:ext cx="1600200" cy="0"/>
          </a:xfrm>
          <a:prstGeom prst="line">
            <a:avLst/>
          </a:prstGeom>
          <a:ln w="19050">
            <a:solidFill>
              <a:srgbClr val="11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749039" y="3264408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80" b="0">
                <a:solidFill>
                  <a:srgbClr val="1C3040"/>
                </a:solidFill>
                <a:latin typeface="Aptos"/>
              </a:defRPr>
            </a:pPr>
            <a:r>
              <a:t>Build inputs + witness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4233672" y="3977639"/>
            <a:ext cx="1600200" cy="0"/>
          </a:xfrm>
          <a:prstGeom prst="line">
            <a:avLst/>
          </a:prstGeom>
          <a:ln w="19050">
            <a:solidFill>
              <a:srgbClr val="11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749039" y="3813048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80" b="0">
                <a:solidFill>
                  <a:srgbClr val="1C3040"/>
                </a:solidFill>
                <a:latin typeface="Aptos"/>
              </a:defRPr>
            </a:pPr>
            <a:r>
              <a:t>zk-SNARK proof + public signals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233672" y="4526280"/>
            <a:ext cx="3246120" cy="0"/>
          </a:xfrm>
          <a:prstGeom prst="line">
            <a:avLst/>
          </a:prstGeom>
          <a:ln w="19050">
            <a:solidFill>
              <a:srgbClr val="11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749039" y="4361688"/>
            <a:ext cx="4160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80" b="0">
                <a:solidFill>
                  <a:srgbClr val="1C3040"/>
                </a:solidFill>
                <a:latin typeface="Aptos"/>
              </a:defRPr>
            </a:pPr>
            <a:r>
              <a:t>submitProof()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479792" y="5074920"/>
            <a:ext cx="1554480" cy="0"/>
          </a:xfrm>
          <a:prstGeom prst="line">
            <a:avLst/>
          </a:prstGeom>
          <a:ln w="19050">
            <a:solidFill>
              <a:srgbClr val="11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995159" y="491032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80" b="0">
                <a:solidFill>
                  <a:srgbClr val="1C3040"/>
                </a:solidFill>
                <a:latin typeface="Aptos"/>
              </a:defRPr>
            </a:pPr>
            <a:r>
              <a:t>Verify + anchor result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7479792" y="5532120"/>
            <a:ext cx="1554480" cy="0"/>
          </a:xfrm>
          <a:prstGeom prst="line">
            <a:avLst/>
          </a:prstGeom>
          <a:ln w="19050">
            <a:solidFill>
              <a:srgbClr val="11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995159" y="536752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80" b="0">
                <a:solidFill>
                  <a:srgbClr val="1C3040"/>
                </a:solidFill>
                <a:latin typeface="Aptos"/>
              </a:defRPr>
            </a:pPr>
            <a:r>
              <a:t>Verification result / tx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2633472" y="5989320"/>
            <a:ext cx="1600200" cy="0"/>
          </a:xfrm>
          <a:prstGeom prst="line">
            <a:avLst/>
          </a:prstGeom>
          <a:ln w="19050">
            <a:solidFill>
              <a:srgbClr val="11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148840" y="5824728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80" b="0">
                <a:solidFill>
                  <a:srgbClr val="1C3040"/>
                </a:solidFill>
                <a:latin typeface="Aptos"/>
              </a:defRPr>
            </a:pPr>
            <a:r>
              <a:t>Proof status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2633472" y="2331720"/>
            <a:ext cx="8046720" cy="0"/>
          </a:xfrm>
          <a:prstGeom prst="line">
            <a:avLst/>
          </a:prstGeom>
          <a:ln w="19050">
            <a:solidFill>
              <a:srgbClr val="D74C4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503920" y="2084831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80" b="1">
                <a:solidFill>
                  <a:srgbClr val="D74C4C"/>
                </a:solidFill>
                <a:latin typeface="Aptos"/>
              </a:defRPr>
            </a:pPr>
            <a:r>
              <a:t>Request verification / audit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633472" y="5989320"/>
            <a:ext cx="8046720" cy="0"/>
          </a:xfrm>
          <a:prstGeom prst="line">
            <a:avLst/>
          </a:prstGeom>
          <a:ln w="19050">
            <a:solidFill>
              <a:srgbClr val="22B2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412480" y="577900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80" b="1">
                <a:solidFill>
                  <a:srgbClr val="22B27E"/>
                </a:solidFill>
                <a:latin typeface="Aptos"/>
              </a:defRPr>
            </a:pPr>
            <a:r>
              <a:t>Compliance attestation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561320" y="109728"/>
            <a:ext cx="1051560" cy="256032"/>
          </a:xfrm>
          <a:prstGeom prst="roundRect">
            <a:avLst/>
          </a:prstGeom>
          <a:solidFill>
            <a:srgbClr val="112D45"/>
          </a:solidFill>
          <a:ln w="10160">
            <a:solidFill>
              <a:srgbClr val="1FA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12D45"/>
                </a:solidFill>
                <a:latin typeface="Aptos Display"/>
              </a:defRPr>
            </a:pPr>
            <a:r>
              <a:t>Class Diagram — Core Domain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640080" cy="41148"/>
          </a:xfrm>
          <a:prstGeom prst="rect">
            <a:avLst/>
          </a:prstGeom>
          <a:solidFill>
            <a:srgbClr val="1FA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C6C78"/>
                </a:solidFill>
              </a:defRPr>
            </a:pPr>
            <a:r>
              <a:t>Zero-Knowledge Proof Based Privacy Compliance System  •  KPRIT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5C6C78"/>
                </a:solidFill>
              </a:defRPr>
            </a:pPr>
            <a: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554480"/>
            <a:ext cx="2148840" cy="1508760"/>
          </a:xfrm>
          <a:prstGeom prst="rect">
            <a:avLst/>
          </a:prstGeom>
          <a:solidFill>
            <a:srgbClr val="FFFFFF"/>
          </a:solidFill>
          <a:ln w="13970">
            <a:solidFill>
              <a:srgbClr val="11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411480" y="1938528"/>
            <a:ext cx="2148840" cy="0"/>
          </a:xfrm>
          <a:prstGeom prst="line">
            <a:avLst/>
          </a:prstGeom>
          <a:ln w="15240">
            <a:solidFill>
              <a:srgbClr val="11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11480" y="2926080"/>
            <a:ext cx="2148840" cy="0"/>
          </a:xfrm>
          <a:prstGeom prst="line">
            <a:avLst/>
          </a:prstGeom>
          <a:ln w="15240">
            <a:solidFill>
              <a:srgbClr val="11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84632" y="1609344"/>
            <a:ext cx="2002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12D45"/>
                </a:solidFill>
                <a:latin typeface="Aptos"/>
              </a:defRPr>
            </a:pPr>
            <a:r>
              <a:t>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75104"/>
            <a:ext cx="2002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C3040"/>
                </a:solidFill>
                <a:latin typeface="Aptos"/>
              </a:defRPr>
            </a:pPr>
            <a:r>
              <a:t>+ userId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2304288"/>
            <a:ext cx="2002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C3040"/>
                </a:solidFill>
                <a:latin typeface="Aptos"/>
              </a:defRPr>
            </a:pPr>
            <a:r>
              <a:t> + role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2633472"/>
            <a:ext cx="2002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C3040"/>
                </a:solidFill>
                <a:latin typeface="Aptos"/>
              </a:defRPr>
            </a:pPr>
            <a:r>
              <a:t>+ authenticationStatus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" y="2962656"/>
            <a:ext cx="2002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C3040"/>
                </a:solidFill>
                <a:latin typeface="Aptos"/>
              </a:defRPr>
            </a:pPr>
            <a:r>
              <a:t>+ authenticate()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1554480"/>
            <a:ext cx="2240280" cy="1783080"/>
          </a:xfrm>
          <a:prstGeom prst="rect">
            <a:avLst/>
          </a:prstGeom>
          <a:solidFill>
            <a:srgbClr val="FFFFFF"/>
          </a:solidFill>
          <a:ln w="13970">
            <a:solidFill>
              <a:srgbClr val="11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7" name="Connector 16"/>
          <p:cNvCxnSpPr/>
          <p:nvPr/>
        </p:nvCxnSpPr>
        <p:spPr>
          <a:xfrm>
            <a:off x="2743200" y="1938528"/>
            <a:ext cx="2240280" cy="0"/>
          </a:xfrm>
          <a:prstGeom prst="line">
            <a:avLst/>
          </a:prstGeom>
          <a:ln w="15240">
            <a:solidFill>
              <a:srgbClr val="11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743200" y="3255264"/>
            <a:ext cx="2240280" cy="0"/>
          </a:xfrm>
          <a:prstGeom prst="line">
            <a:avLst/>
          </a:prstGeom>
          <a:ln w="15240">
            <a:solidFill>
              <a:srgbClr val="11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816352" y="1609344"/>
            <a:ext cx="2093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12D45"/>
                </a:solidFill>
                <a:latin typeface="Aptos"/>
              </a:defRPr>
            </a:pPr>
            <a:r>
              <a:t>ConsentRecord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16352" y="1975104"/>
            <a:ext cx="2093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C3040"/>
                </a:solidFill>
                <a:latin typeface="Aptos"/>
              </a:defRPr>
            </a:pPr>
            <a:r>
              <a:t>+ consentId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16352" y="2304288"/>
            <a:ext cx="2093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C3040"/>
                </a:solidFill>
                <a:latin typeface="Aptos"/>
              </a:defRPr>
            </a:pPr>
            <a:r>
              <a:t>+ purpose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16352" y="2633472"/>
            <a:ext cx="2093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C3040"/>
                </a:solidFill>
                <a:latin typeface="Aptos"/>
              </a:defRPr>
            </a:pPr>
            <a:r>
              <a:t>+ status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16352" y="2962656"/>
            <a:ext cx="2093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C3040"/>
                </a:solidFill>
                <a:latin typeface="Aptos"/>
              </a:defRPr>
            </a:pPr>
            <a:r>
              <a:t>+ expiryDate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16352" y="3291840"/>
            <a:ext cx="2093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C3040"/>
                </a:solidFill>
                <a:latin typeface="Aptos"/>
              </a:defRPr>
            </a:pPr>
            <a:r>
              <a:t>+ update()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16352" y="3621024"/>
            <a:ext cx="2093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C3040"/>
                </a:solidFill>
                <a:latin typeface="Aptos"/>
              </a:defRPr>
            </a:pPr>
            <a:r>
              <a:t>+ withdraw()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12080" y="1554480"/>
            <a:ext cx="2240280" cy="1783080"/>
          </a:xfrm>
          <a:prstGeom prst="rect">
            <a:avLst/>
          </a:prstGeom>
          <a:solidFill>
            <a:srgbClr val="FFFFFF"/>
          </a:solidFill>
          <a:ln w="13970">
            <a:solidFill>
              <a:srgbClr val="11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7" name="Connector 26"/>
          <p:cNvCxnSpPr/>
          <p:nvPr/>
        </p:nvCxnSpPr>
        <p:spPr>
          <a:xfrm>
            <a:off x="5212080" y="1938528"/>
            <a:ext cx="2240280" cy="0"/>
          </a:xfrm>
          <a:prstGeom prst="line">
            <a:avLst/>
          </a:prstGeom>
          <a:ln w="15240">
            <a:solidFill>
              <a:srgbClr val="11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212080" y="3255264"/>
            <a:ext cx="2240280" cy="0"/>
          </a:xfrm>
          <a:prstGeom prst="line">
            <a:avLst/>
          </a:prstGeom>
          <a:ln w="15240">
            <a:solidFill>
              <a:srgbClr val="11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285232" y="1609344"/>
            <a:ext cx="2093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12D45"/>
                </a:solidFill>
                <a:latin typeface="Aptos"/>
              </a:defRPr>
            </a:pPr>
            <a:r>
              <a:t>ComplianceRequest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85232" y="1975104"/>
            <a:ext cx="2093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C3040"/>
                </a:solidFill>
                <a:latin typeface="Aptos"/>
              </a:defRPr>
            </a:pPr>
            <a:r>
              <a:t>+ requestId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85232" y="2304288"/>
            <a:ext cx="2093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C3040"/>
                </a:solidFill>
                <a:latin typeface="Aptos"/>
              </a:defRPr>
            </a:pPr>
            <a:r>
              <a:t>+ complianceRule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85232" y="2633472"/>
            <a:ext cx="2093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C3040"/>
                </a:solidFill>
                <a:latin typeface="Aptos"/>
              </a:defRPr>
            </a:pPr>
            <a:r>
              <a:t>+ 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85232" y="2962656"/>
            <a:ext cx="2093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C3040"/>
                </a:solidFill>
                <a:latin typeface="Aptos"/>
              </a:defRPr>
            </a:pPr>
            <a:r>
              <a:t>+ createdAt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85232" y="3291840"/>
            <a:ext cx="2093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C3040"/>
                </a:solidFill>
                <a:latin typeface="Aptos"/>
              </a:defRPr>
            </a:pPr>
            <a:r>
              <a:t>+ submit()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85232" y="3621024"/>
            <a:ext cx="2093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C3040"/>
                </a:solidFill>
                <a:latin typeface="Aptos"/>
              </a:defRPr>
            </a:pPr>
            <a:r>
              <a:t>+ validate()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80960" y="1554480"/>
            <a:ext cx="2240280" cy="1783080"/>
          </a:xfrm>
          <a:prstGeom prst="rect">
            <a:avLst/>
          </a:prstGeom>
          <a:solidFill>
            <a:srgbClr val="FFFFFF"/>
          </a:solidFill>
          <a:ln w="13970">
            <a:solidFill>
              <a:srgbClr val="11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7" name="Connector 36"/>
          <p:cNvCxnSpPr/>
          <p:nvPr/>
        </p:nvCxnSpPr>
        <p:spPr>
          <a:xfrm>
            <a:off x="7680960" y="1938528"/>
            <a:ext cx="2240280" cy="0"/>
          </a:xfrm>
          <a:prstGeom prst="line">
            <a:avLst/>
          </a:prstGeom>
          <a:ln w="15240">
            <a:solidFill>
              <a:srgbClr val="11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680960" y="3255264"/>
            <a:ext cx="2240280" cy="0"/>
          </a:xfrm>
          <a:prstGeom prst="line">
            <a:avLst/>
          </a:prstGeom>
          <a:ln w="15240">
            <a:solidFill>
              <a:srgbClr val="11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754112" y="1609344"/>
            <a:ext cx="2093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12D45"/>
                </a:solidFill>
                <a:latin typeface="Aptos"/>
              </a:defRPr>
            </a:pPr>
            <a:r>
              <a:t>ZKProof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54112" y="1975104"/>
            <a:ext cx="2093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C3040"/>
                </a:solidFill>
                <a:latin typeface="Aptos"/>
              </a:defRPr>
            </a:pPr>
            <a:r>
              <a:t>+ proofId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54112" y="2304288"/>
            <a:ext cx="2093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C3040"/>
                </a:solidFill>
                <a:latin typeface="Aptos"/>
              </a:defRPr>
            </a:pPr>
            <a:r>
              <a:t>+ proofData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54112" y="2633472"/>
            <a:ext cx="2093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C3040"/>
                </a:solidFill>
                <a:latin typeface="Aptos"/>
              </a:defRPr>
            </a:pPr>
            <a:r>
              <a:t>+ publicSignals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54112" y="2962656"/>
            <a:ext cx="2093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C3040"/>
                </a:solidFill>
                <a:latin typeface="Aptos"/>
              </a:defRPr>
            </a:pPr>
            <a:r>
              <a:t>+ proofHash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54112" y="3291840"/>
            <a:ext cx="2093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C3040"/>
                </a:solidFill>
                <a:latin typeface="Aptos"/>
              </a:defRPr>
            </a:pPr>
            <a:r>
              <a:t>+ generate()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54112" y="3621024"/>
            <a:ext cx="2093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C3040"/>
                </a:solidFill>
                <a:latin typeface="Aptos"/>
              </a:defRPr>
            </a:pPr>
            <a:r>
              <a:t>+ verify()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828800" y="4069080"/>
            <a:ext cx="2240280" cy="1737360"/>
          </a:xfrm>
          <a:prstGeom prst="rect">
            <a:avLst/>
          </a:prstGeom>
          <a:solidFill>
            <a:srgbClr val="FFFFFF"/>
          </a:solidFill>
          <a:ln w="13970">
            <a:solidFill>
              <a:srgbClr val="11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7" name="Connector 46"/>
          <p:cNvCxnSpPr/>
          <p:nvPr/>
        </p:nvCxnSpPr>
        <p:spPr>
          <a:xfrm>
            <a:off x="1828800" y="4453128"/>
            <a:ext cx="2240280" cy="0"/>
          </a:xfrm>
          <a:prstGeom prst="line">
            <a:avLst/>
          </a:prstGeom>
          <a:ln w="15240">
            <a:solidFill>
              <a:srgbClr val="11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828800" y="5769864"/>
            <a:ext cx="2240280" cy="0"/>
          </a:xfrm>
          <a:prstGeom prst="line">
            <a:avLst/>
          </a:prstGeom>
          <a:ln w="15240">
            <a:solidFill>
              <a:srgbClr val="11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901952" y="4123944"/>
            <a:ext cx="2093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12D45"/>
                </a:solidFill>
                <a:latin typeface="Aptos"/>
              </a:defRPr>
            </a:pPr>
            <a:r>
              <a:t>VerificationRecord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01952" y="4489704"/>
            <a:ext cx="2093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C3040"/>
                </a:solidFill>
                <a:latin typeface="Aptos"/>
              </a:defRPr>
            </a:pPr>
            <a:r>
              <a:t>+ verificationId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901952" y="4818888"/>
            <a:ext cx="2093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C3040"/>
                </a:solidFill>
                <a:latin typeface="Aptos"/>
              </a:defRPr>
            </a:pPr>
            <a:r>
              <a:t>+ result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01952" y="5148072"/>
            <a:ext cx="2093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C3040"/>
                </a:solidFill>
                <a:latin typeface="Aptos"/>
              </a:defRPr>
            </a:pPr>
            <a:r>
              <a:t>+ timestamp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901952" y="5477256"/>
            <a:ext cx="2093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C3040"/>
                </a:solidFill>
                <a:latin typeface="Aptos"/>
              </a:defRPr>
            </a:pPr>
            <a:r>
              <a:t>+ transactionHash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01952" y="5806440"/>
            <a:ext cx="2093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C3040"/>
                </a:solidFill>
                <a:latin typeface="Aptos"/>
              </a:defRPr>
            </a:pPr>
            <a:r>
              <a:t>+ recordResult()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0" y="4069080"/>
            <a:ext cx="2240280" cy="1737360"/>
          </a:xfrm>
          <a:prstGeom prst="rect">
            <a:avLst/>
          </a:prstGeom>
          <a:solidFill>
            <a:srgbClr val="FFFFFF"/>
          </a:solidFill>
          <a:ln w="13970">
            <a:solidFill>
              <a:srgbClr val="11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6" name="Connector 55"/>
          <p:cNvCxnSpPr/>
          <p:nvPr/>
        </p:nvCxnSpPr>
        <p:spPr>
          <a:xfrm>
            <a:off x="4572000" y="4453128"/>
            <a:ext cx="2240280" cy="0"/>
          </a:xfrm>
          <a:prstGeom prst="line">
            <a:avLst/>
          </a:prstGeom>
          <a:ln w="15240">
            <a:solidFill>
              <a:srgbClr val="11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572000" y="5769864"/>
            <a:ext cx="2240280" cy="0"/>
          </a:xfrm>
          <a:prstGeom prst="line">
            <a:avLst/>
          </a:prstGeom>
          <a:ln w="15240">
            <a:solidFill>
              <a:srgbClr val="11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4645152" y="4123944"/>
            <a:ext cx="2093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12D45"/>
                </a:solidFill>
                <a:latin typeface="Aptos"/>
              </a:defRPr>
            </a:pPr>
            <a:r>
              <a:t>AuditReport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45152" y="4489704"/>
            <a:ext cx="2093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C3040"/>
                </a:solidFill>
                <a:latin typeface="Aptos"/>
              </a:defRPr>
            </a:pPr>
            <a:r>
              <a:t>+ reportId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45152" y="4818888"/>
            <a:ext cx="2093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C3040"/>
                </a:solidFill>
                <a:latin typeface="Aptos"/>
              </a:defRPr>
            </a:pPr>
            <a:r>
              <a:t>+ entityId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45152" y="5148072"/>
            <a:ext cx="2093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C3040"/>
                </a:solidFill>
                <a:latin typeface="Aptos"/>
              </a:defRPr>
            </a:pPr>
            <a:r>
              <a:t>+ dateRange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645152" y="5477256"/>
            <a:ext cx="2093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C3040"/>
                </a:solidFill>
                <a:latin typeface="Aptos"/>
              </a:defRPr>
            </a:pPr>
            <a:r>
              <a:t>+ complianceStatus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45152" y="5806440"/>
            <a:ext cx="2093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C3040"/>
                </a:solidFill>
                <a:latin typeface="Aptos"/>
              </a:defRPr>
            </a:pPr>
            <a:r>
              <a:t>+ generate()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315200" y="4069080"/>
            <a:ext cx="2240280" cy="1737360"/>
          </a:xfrm>
          <a:prstGeom prst="rect">
            <a:avLst/>
          </a:prstGeom>
          <a:solidFill>
            <a:srgbClr val="FFFFFF"/>
          </a:solidFill>
          <a:ln w="13970">
            <a:solidFill>
              <a:srgbClr val="11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5" name="Connector 64"/>
          <p:cNvCxnSpPr/>
          <p:nvPr/>
        </p:nvCxnSpPr>
        <p:spPr>
          <a:xfrm>
            <a:off x="7315200" y="4453128"/>
            <a:ext cx="2240280" cy="0"/>
          </a:xfrm>
          <a:prstGeom prst="line">
            <a:avLst/>
          </a:prstGeom>
          <a:ln w="15240">
            <a:solidFill>
              <a:srgbClr val="11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7315200" y="5111496"/>
            <a:ext cx="2240280" cy="0"/>
          </a:xfrm>
          <a:prstGeom prst="line">
            <a:avLst/>
          </a:prstGeom>
          <a:ln w="15240">
            <a:solidFill>
              <a:srgbClr val="11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7388352" y="4123944"/>
            <a:ext cx="2093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12D45"/>
                </a:solidFill>
                <a:latin typeface="Aptos"/>
              </a:defRPr>
            </a:pPr>
            <a:r>
              <a:t>ComplianceDashboard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88352" y="4489704"/>
            <a:ext cx="2093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C3040"/>
                </a:solidFill>
                <a:latin typeface="Aptos"/>
              </a:defRPr>
            </a:pPr>
            <a:r>
              <a:t>+ proofStatus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88352" y="4818888"/>
            <a:ext cx="2093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C3040"/>
                </a:solidFill>
                <a:latin typeface="Aptos"/>
              </a:defRPr>
            </a:pPr>
            <a:r>
              <a:t>+ auditView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88352" y="5148072"/>
            <a:ext cx="2093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C3040"/>
                </a:solidFill>
                <a:latin typeface="Aptos"/>
              </a:defRPr>
            </a:pPr>
            <a:r>
              <a:t>+ verifyStatus()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88352" y="5477256"/>
            <a:ext cx="2093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C3040"/>
                </a:solidFill>
                <a:latin typeface="Aptos"/>
              </a:defRPr>
            </a:pPr>
            <a:r>
              <a:t>+ auditReport()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2560320" y="2304288"/>
            <a:ext cx="182880" cy="0"/>
          </a:xfrm>
          <a:prstGeom prst="line">
            <a:avLst/>
          </a:prstGeom>
          <a:ln w="19050">
            <a:solidFill>
              <a:srgbClr val="11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2487168" y="205740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>
                <a:solidFill>
                  <a:srgbClr val="5C6C78"/>
                </a:solidFill>
                <a:latin typeface="Aptos"/>
              </a:defRPr>
            </a:pPr>
            <a:r>
              <a:t>1..*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4983480" y="2304288"/>
            <a:ext cx="228600" cy="0"/>
          </a:xfrm>
          <a:prstGeom prst="line">
            <a:avLst/>
          </a:prstGeom>
          <a:ln w="19050">
            <a:solidFill>
              <a:srgbClr val="11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4892040" y="205740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>
                <a:solidFill>
                  <a:srgbClr val="5C6C78"/>
                </a:solidFill>
                <a:latin typeface="Aptos"/>
              </a:defRPr>
            </a:pPr>
            <a:r>
              <a:t>1..*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7452360" y="2304288"/>
            <a:ext cx="228600" cy="0"/>
          </a:xfrm>
          <a:prstGeom prst="line">
            <a:avLst/>
          </a:prstGeom>
          <a:ln w="19050">
            <a:solidFill>
              <a:srgbClr val="11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7333488" y="205740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>
                <a:solidFill>
                  <a:srgbClr val="5C6C78"/>
                </a:solidFill>
                <a:latin typeface="Aptos"/>
              </a:defRPr>
            </a:pPr>
            <a:r>
              <a:t>1</a:t>
            </a:r>
          </a:p>
        </p:txBody>
      </p:sp>
      <p:cxnSp>
        <p:nvCxnSpPr>
          <p:cNvPr id="78" name="Connector 77"/>
          <p:cNvCxnSpPr/>
          <p:nvPr/>
        </p:nvCxnSpPr>
        <p:spPr>
          <a:xfrm flipH="1">
            <a:off x="2971800" y="3337560"/>
            <a:ext cx="3337560" cy="731520"/>
          </a:xfrm>
          <a:prstGeom prst="line">
            <a:avLst/>
          </a:prstGeom>
          <a:ln w="19050">
            <a:solidFill>
              <a:srgbClr val="11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4297680" y="33375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>
                <a:solidFill>
                  <a:srgbClr val="5C6C78"/>
                </a:solidFill>
                <a:latin typeface="Aptos"/>
              </a:defRPr>
            </a:pPr>
            <a:r>
              <a:t>generates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7315200" y="3337560"/>
            <a:ext cx="914400" cy="731520"/>
          </a:xfrm>
          <a:prstGeom prst="line">
            <a:avLst/>
          </a:prstGeom>
          <a:ln w="19050">
            <a:solidFill>
              <a:srgbClr val="11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7818120" y="342900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>
                <a:solidFill>
                  <a:srgbClr val="5C6C78"/>
                </a:solidFill>
                <a:latin typeface="Aptos"/>
              </a:defRPr>
            </a:pPr>
            <a:r>
              <a:t>verifies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4069080" y="4937760"/>
            <a:ext cx="502920" cy="0"/>
          </a:xfrm>
          <a:prstGeom prst="line">
            <a:avLst/>
          </a:prstGeom>
          <a:ln w="19050">
            <a:solidFill>
              <a:srgbClr val="11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6812280" y="4937760"/>
            <a:ext cx="502920" cy="0"/>
          </a:xfrm>
          <a:prstGeom prst="line">
            <a:avLst/>
          </a:prstGeom>
          <a:ln w="19050">
            <a:solidFill>
              <a:srgbClr val="11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3886200" y="521208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>
                <a:solidFill>
                  <a:srgbClr val="5C6C78"/>
                </a:solidFill>
                <a:latin typeface="Aptos"/>
              </a:defRPr>
            </a:pPr>
            <a:r>
              <a:t>1..*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812280" y="521208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>
                <a:solidFill>
                  <a:srgbClr val="5C6C78"/>
                </a:solidFill>
                <a:latin typeface="Aptos"/>
              </a:defRPr>
            </a:pPr>
            <a:r>
              <a:t>1..*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561320" y="109728"/>
            <a:ext cx="1051560" cy="256032"/>
          </a:xfrm>
          <a:prstGeom prst="roundRect">
            <a:avLst/>
          </a:prstGeom>
          <a:solidFill>
            <a:srgbClr val="112D45"/>
          </a:solidFill>
          <a:ln w="10160">
            <a:solidFill>
              <a:srgbClr val="1FA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12D45"/>
                </a:solidFill>
                <a:latin typeface="Aptos Display"/>
              </a:defRPr>
            </a:pPr>
            <a:r>
              <a:t>Component Diagram — System Components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640080" cy="41148"/>
          </a:xfrm>
          <a:prstGeom prst="rect">
            <a:avLst/>
          </a:prstGeom>
          <a:solidFill>
            <a:srgbClr val="1FA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C6C78"/>
                </a:solidFill>
              </a:defRPr>
            </a:pPr>
            <a:r>
              <a:t>Zero-Knowledge Proof Based Privacy Compliance System  •  KPRIT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5C6C78"/>
                </a:solidFill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2103120" cy="822960"/>
          </a:xfrm>
          <a:prstGeom prst="roundRect">
            <a:avLst/>
          </a:prstGeom>
          <a:solidFill>
            <a:srgbClr val="EBF1FB"/>
          </a:solidFill>
          <a:ln w="15240">
            <a:solidFill>
              <a:srgbClr val="376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1C3040"/>
                </a:solidFill>
                <a:latin typeface="Aptos"/>
              </a:defRPr>
            </a:pPr>
            <a:r>
              <a:t>«component»</a:t>
            </a:r>
            <a:br/>
            <a:r>
              <a:t>React Client /</a:t>
            </a:r>
            <a:br/>
            <a:r>
              <a:t>Regulator Portal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828800"/>
            <a:ext cx="2103120" cy="822960"/>
          </a:xfrm>
          <a:prstGeom prst="roundRect">
            <a:avLst/>
          </a:prstGeom>
          <a:solidFill>
            <a:srgbClr val="F4EEFC"/>
          </a:solidFill>
          <a:ln w="15240">
            <a:solidFill>
              <a:srgbClr val="844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1C3040"/>
                </a:solidFill>
                <a:latin typeface="Aptos"/>
              </a:defRPr>
            </a:pPr>
            <a:r>
              <a:t>«component»</a:t>
            </a:r>
            <a:br/>
            <a:r>
              <a:t>API Gateway &amp;</a:t>
            </a:r>
            <a:br/>
            <a:r>
              <a:t>Orchestrator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97880" y="1828800"/>
            <a:ext cx="2103120" cy="822960"/>
          </a:xfrm>
          <a:prstGeom prst="roundRect">
            <a:avLst/>
          </a:prstGeom>
          <a:solidFill>
            <a:srgbClr val="F4EEFC"/>
          </a:solidFill>
          <a:ln w="15240">
            <a:solidFill>
              <a:srgbClr val="844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1C3040"/>
                </a:solidFill>
                <a:latin typeface="Aptos"/>
              </a:defRPr>
            </a:pPr>
            <a:r>
              <a:t>«component»</a:t>
            </a:r>
            <a:br/>
            <a:r>
              <a:t>ZKP Engine</a:t>
            </a:r>
            <a:br/>
            <a:r>
              <a:t>Circom + snarkjs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1828800"/>
            <a:ext cx="2103120" cy="822960"/>
          </a:xfrm>
          <a:prstGeom prst="roundRect">
            <a:avLst/>
          </a:prstGeom>
          <a:solidFill>
            <a:srgbClr val="EBF8F2"/>
          </a:solidFill>
          <a:ln w="15240">
            <a:solidFill>
              <a:srgbClr val="22B2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1C3040"/>
                </a:solidFill>
                <a:latin typeface="Aptos"/>
              </a:defRPr>
            </a:pPr>
            <a:r>
              <a:t>«component»</a:t>
            </a:r>
            <a:br/>
            <a:r>
              <a:t>Smart Contract</a:t>
            </a:r>
            <a:br/>
            <a:r>
              <a:t>Verifier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3886200"/>
            <a:ext cx="2377440" cy="822960"/>
          </a:xfrm>
          <a:prstGeom prst="roundRect">
            <a:avLst/>
          </a:prstGeom>
          <a:solidFill>
            <a:srgbClr val="FDF5E8"/>
          </a:solidFill>
          <a:ln w="15240">
            <a:solidFill>
              <a:srgbClr val="E08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1C3040"/>
                </a:solidFill>
                <a:latin typeface="Aptos"/>
              </a:defRPr>
            </a:pPr>
            <a:r>
              <a:t>«component»</a:t>
            </a:r>
            <a:br/>
            <a:r>
              <a:t>Blockchain Ledger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0" y="3886200"/>
            <a:ext cx="2377440" cy="822960"/>
          </a:xfrm>
          <a:prstGeom prst="roundRect">
            <a:avLst/>
          </a:prstGeom>
          <a:solidFill>
            <a:srgbClr val="EBF1FB"/>
          </a:solidFill>
          <a:ln w="15240">
            <a:solidFill>
              <a:srgbClr val="376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1C3040"/>
                </a:solidFill>
                <a:latin typeface="Aptos"/>
              </a:defRPr>
            </a:pPr>
            <a:r>
              <a:t>«component»</a:t>
            </a:r>
            <a:br/>
            <a:r>
              <a:t>Encrypted Off-chain</a:t>
            </a:r>
            <a:br/>
            <a:r>
              <a:t>Store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3886200"/>
            <a:ext cx="2377440" cy="822960"/>
          </a:xfrm>
          <a:prstGeom prst="roundRect">
            <a:avLst/>
          </a:prstGeom>
          <a:solidFill>
            <a:srgbClr val="EBF8F2"/>
          </a:solidFill>
          <a:ln w="15240">
            <a:solidFill>
              <a:srgbClr val="22B2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1C3040"/>
                </a:solidFill>
                <a:latin typeface="Aptos"/>
              </a:defRPr>
            </a:pPr>
            <a:r>
              <a:t>«component»</a:t>
            </a:r>
            <a:br/>
            <a:r>
              <a:t>Compliance</a:t>
            </a:r>
            <a:br/>
            <a:r>
              <a:t>Dashboard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788920" y="2240280"/>
            <a:ext cx="502920" cy="0"/>
          </a:xfrm>
          <a:prstGeom prst="line">
            <a:avLst/>
          </a:prstGeom>
          <a:ln w="19050">
            <a:solidFill>
              <a:srgbClr val="11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94960" y="2240280"/>
            <a:ext cx="502920" cy="0"/>
          </a:xfrm>
          <a:prstGeom prst="line">
            <a:avLst/>
          </a:prstGeom>
          <a:ln w="19050">
            <a:solidFill>
              <a:srgbClr val="11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001000" y="2240280"/>
            <a:ext cx="502920" cy="0"/>
          </a:xfrm>
          <a:prstGeom prst="line">
            <a:avLst/>
          </a:prstGeom>
          <a:ln w="19050">
            <a:solidFill>
              <a:srgbClr val="11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2468880" y="2651760"/>
            <a:ext cx="1874520" cy="1234440"/>
          </a:xfrm>
          <a:prstGeom prst="line">
            <a:avLst/>
          </a:prstGeom>
          <a:ln w="19050">
            <a:solidFill>
              <a:srgbClr val="11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5760720" y="2651760"/>
            <a:ext cx="1188720" cy="1234440"/>
          </a:xfrm>
          <a:prstGeom prst="line">
            <a:avLst/>
          </a:prstGeom>
          <a:ln w="19050">
            <a:solidFill>
              <a:srgbClr val="11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5760720" y="2651760"/>
            <a:ext cx="3794760" cy="1234440"/>
          </a:xfrm>
          <a:prstGeom prst="line">
            <a:avLst/>
          </a:prstGeom>
          <a:ln w="19050">
            <a:solidFill>
              <a:srgbClr val="11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9418320" y="2651760"/>
            <a:ext cx="137160" cy="1234440"/>
          </a:xfrm>
          <a:prstGeom prst="line">
            <a:avLst/>
          </a:prstGeom>
          <a:ln w="19050">
            <a:solidFill>
              <a:srgbClr val="11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949440" y="3886200"/>
            <a:ext cx="1280160" cy="0"/>
          </a:xfrm>
          <a:prstGeom prst="line">
            <a:avLst/>
          </a:prstGeom>
          <a:ln w="19050">
            <a:solidFill>
              <a:srgbClr val="11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561320" y="109728"/>
            <a:ext cx="1051560" cy="256032"/>
          </a:xfrm>
          <a:prstGeom prst="roundRect">
            <a:avLst/>
          </a:prstGeom>
          <a:solidFill>
            <a:srgbClr val="112D45"/>
          </a:solidFill>
          <a:ln w="10160">
            <a:solidFill>
              <a:srgbClr val="1FA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12D45"/>
                </a:solidFill>
                <a:latin typeface="Aptos Display"/>
              </a:defRPr>
            </a:pPr>
            <a:r>
              <a:t>Deployment Diagram — System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640080" cy="41148"/>
          </a:xfrm>
          <a:prstGeom prst="rect">
            <a:avLst/>
          </a:prstGeom>
          <a:solidFill>
            <a:srgbClr val="1FA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C6C78"/>
                </a:solidFill>
              </a:defRPr>
            </a:pPr>
            <a:r>
              <a:t>Zero-Knowledge Proof Based Privacy Compliance System  •  KPRIT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5C6C78"/>
                </a:solidFill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1828800" cy="1051560"/>
          </a:xfrm>
          <a:prstGeom prst="roundRect">
            <a:avLst/>
          </a:prstGeom>
          <a:solidFill>
            <a:srgbClr val="EBF1FB"/>
          </a:solidFill>
          <a:ln w="15240">
            <a:solidFill>
              <a:srgbClr val="376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1C3040"/>
                </a:solidFill>
                <a:latin typeface="Aptos"/>
              </a:defRPr>
            </a:pPr>
            <a:r>
              <a:t>«device»</a:t>
            </a:r>
            <a:br/>
            <a:r>
              <a:t>User / Regulator</a:t>
            </a:r>
            <a:br/>
            <a:r>
              <a:t>Browser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828800"/>
            <a:ext cx="1828800" cy="1051560"/>
          </a:xfrm>
          <a:prstGeom prst="roundRect">
            <a:avLst/>
          </a:prstGeom>
          <a:solidFill>
            <a:srgbClr val="EBF1FB"/>
          </a:solidFill>
          <a:ln w="15240">
            <a:solidFill>
              <a:srgbClr val="376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1C3040"/>
                </a:solidFill>
                <a:latin typeface="Aptos"/>
              </a:defRPr>
            </a:pPr>
            <a:r>
              <a:t>«server»</a:t>
            </a:r>
            <a:br/>
            <a:r>
              <a:t>React Frontend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83480" y="1828800"/>
            <a:ext cx="2011680" cy="1051560"/>
          </a:xfrm>
          <a:prstGeom prst="roundRect">
            <a:avLst/>
          </a:prstGeom>
          <a:solidFill>
            <a:srgbClr val="F4EEFC"/>
          </a:solidFill>
          <a:ln w="15240">
            <a:solidFill>
              <a:srgbClr val="844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1C3040"/>
                </a:solidFill>
                <a:latin typeface="Aptos"/>
              </a:defRPr>
            </a:pPr>
            <a:r>
              <a:t>«server»</a:t>
            </a:r>
            <a:br/>
            <a:r>
              <a:t>Node.js / FastAPI</a:t>
            </a:r>
            <a:br/>
            <a:r>
              <a:t>Application Server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1828800"/>
            <a:ext cx="2011680" cy="1051560"/>
          </a:xfrm>
          <a:prstGeom prst="roundRect">
            <a:avLst/>
          </a:prstGeom>
          <a:solidFill>
            <a:srgbClr val="F4EEFC"/>
          </a:solidFill>
          <a:ln w="15240">
            <a:solidFill>
              <a:srgbClr val="844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1C3040"/>
                </a:solidFill>
                <a:latin typeface="Aptos"/>
              </a:defRPr>
            </a:pPr>
            <a:r>
              <a:t>«server»</a:t>
            </a:r>
            <a:br/>
            <a:r>
              <a:t>ZKP Processing</a:t>
            </a:r>
            <a:br/>
            <a:r>
              <a:t>Circom + snarkjs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29800" y="1828800"/>
            <a:ext cx="1783080" cy="1051560"/>
          </a:xfrm>
          <a:prstGeom prst="roundRect">
            <a:avLst/>
          </a:prstGeom>
          <a:solidFill>
            <a:srgbClr val="FDF5E8"/>
          </a:solidFill>
          <a:ln w="15240">
            <a:solidFill>
              <a:srgbClr val="E08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1C3040"/>
                </a:solidFill>
                <a:latin typeface="Aptos"/>
              </a:defRPr>
            </a:pPr>
            <a:r>
              <a:t>«database»</a:t>
            </a:r>
            <a:br/>
            <a:r>
              <a:t>PostgreSQL /</a:t>
            </a:r>
            <a:br/>
            <a:r>
              <a:t>MongoDB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4069080"/>
            <a:ext cx="2194560" cy="1143000"/>
          </a:xfrm>
          <a:prstGeom prst="roundRect">
            <a:avLst/>
          </a:prstGeom>
          <a:solidFill>
            <a:srgbClr val="EBF8F2"/>
          </a:solidFill>
          <a:ln w="15240">
            <a:solidFill>
              <a:srgbClr val="22B2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1C3040"/>
                </a:solidFill>
                <a:latin typeface="Aptos"/>
              </a:defRPr>
            </a:pPr>
            <a:r>
              <a:t>«blockchain»</a:t>
            </a:r>
            <a:br/>
            <a:r>
              <a:t>Ethereum Testnet</a:t>
            </a:r>
            <a:br/>
            <a:r>
              <a:t>Solidity Smart Contract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4069080"/>
            <a:ext cx="2011680" cy="1143000"/>
          </a:xfrm>
          <a:prstGeom prst="roundRect">
            <a:avLst/>
          </a:prstGeom>
          <a:solidFill>
            <a:srgbClr val="EBF1FB"/>
          </a:solidFill>
          <a:ln w="15240">
            <a:solidFill>
              <a:srgbClr val="376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1C3040"/>
                </a:solidFill>
                <a:latin typeface="Aptos"/>
              </a:defRPr>
            </a:pPr>
            <a:r>
              <a:t>«database»</a:t>
            </a:r>
            <a:br/>
            <a:r>
              <a:t>Encrypted Off-chain</a:t>
            </a:r>
            <a:br/>
            <a:r>
              <a:t>Store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331720" y="2359152"/>
            <a:ext cx="411480" cy="0"/>
          </a:xfrm>
          <a:prstGeom prst="line">
            <a:avLst/>
          </a:prstGeom>
          <a:ln w="19050">
            <a:solidFill>
              <a:srgbClr val="11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331720" y="205740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5C6C78"/>
                </a:solidFill>
                <a:latin typeface="Aptos"/>
              </a:defRPr>
            </a:pPr>
            <a:r>
              <a:t>HTTPS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72000" y="2359152"/>
            <a:ext cx="411480" cy="0"/>
          </a:xfrm>
          <a:prstGeom prst="line">
            <a:avLst/>
          </a:prstGeom>
          <a:ln w="19050">
            <a:solidFill>
              <a:srgbClr val="11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26280" y="205740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5C6C78"/>
                </a:solidFill>
                <a:latin typeface="Aptos"/>
              </a:defRPr>
            </a:pPr>
            <a:r>
              <a:t>REST API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995160" y="2359152"/>
            <a:ext cx="411480" cy="0"/>
          </a:xfrm>
          <a:prstGeom prst="line">
            <a:avLst/>
          </a:prstGeom>
          <a:ln w="19050">
            <a:solidFill>
              <a:srgbClr val="11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18320" y="2359152"/>
            <a:ext cx="411480" cy="0"/>
          </a:xfrm>
          <a:prstGeom prst="line">
            <a:avLst/>
          </a:prstGeom>
          <a:ln w="19050">
            <a:solidFill>
              <a:srgbClr val="11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989320" y="2880360"/>
            <a:ext cx="594360" cy="1188720"/>
          </a:xfrm>
          <a:prstGeom prst="line">
            <a:avLst/>
          </a:prstGeom>
          <a:ln w="19050">
            <a:solidFill>
              <a:srgbClr val="11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897880" y="333756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5C6C78"/>
                </a:solidFill>
                <a:latin typeface="Aptos"/>
              </a:defRPr>
            </a:pPr>
            <a:r>
              <a:t>Web3 / Ethers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3749039" y="2880360"/>
            <a:ext cx="2240281" cy="1188720"/>
          </a:xfrm>
          <a:prstGeom prst="line">
            <a:avLst/>
          </a:prstGeom>
          <a:ln w="19050">
            <a:solidFill>
              <a:srgbClr val="11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343400" y="333756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5C6C78"/>
                </a:solidFill>
                <a:latin typeface="Aptos"/>
              </a:defRPr>
            </a:pPr>
            <a:r>
              <a:t>DB access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514</Words>
  <Application>Microsoft Office PowerPoint</Application>
  <PresentationFormat>Widescreen</PresentationFormat>
  <Paragraphs>153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PREM KUMAR</dc:creator>
  <cp:keywords/>
  <dc:description>generated using python-pptx</dc:description>
  <cp:lastModifiedBy>PREM KUMAR</cp:lastModifiedBy>
  <cp:revision>2</cp:revision>
  <dcterms:created xsi:type="dcterms:W3CDTF">2013-01-27T09:14:16Z</dcterms:created>
  <dcterms:modified xsi:type="dcterms:W3CDTF">2026-10-06T17:40:45Z</dcterms:modified>
  <cp:category/>
</cp:coreProperties>
</file>