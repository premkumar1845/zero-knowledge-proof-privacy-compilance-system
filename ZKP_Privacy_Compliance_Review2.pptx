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422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84"/>
            <a:ext cx="12191695" cy="6858000"/>
          </a:xfrm>
          <a:prstGeom prst="rect">
            <a:avLst/>
          </a:prstGeom>
          <a:solidFill>
            <a:srgbClr val="0F2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4364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93E5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029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93E5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II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 Based</a:t>
            </a:r>
            <a:endParaRPr lang="en-US" sz="4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Compliance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Blockchain-Anchored Framework for Privacy-Preserving Regulatory Compliance Verification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10607040" cy="0"/>
          </a:xfrm>
          <a:prstGeom prst="line">
            <a:avLst/>
          </a:prstGeom>
          <a:noFill/>
          <a:ln w="12700">
            <a:solidFill>
              <a:srgbClr val="2859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7490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•  Data Flow  •  System Modules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53492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Prem Kumar (Lead)   •   N. Rakesh Chary   •   K. Shivamani   •   G. Shashank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57424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M. Chalapathi Rao   |   Department of AI &amp; ML   |   KPRIT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610819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context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EBF8FA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2603754" cy="2148840"/>
          </a:xfrm>
          <a:prstGeom prst="roundRect">
            <a:avLst>
              <a:gd name="adj" fmla="val 2979"/>
            </a:avLst>
          </a:prstGeom>
          <a:solidFill>
            <a:srgbClr val="EBF8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2148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25296"/>
            <a:ext cx="2283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228371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partners require proof of compliance (KYC/AML limits, consent, data-handling rules) before data can be trusted or shared.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2706" y="1097280"/>
            <a:ext cx="2603754" cy="2148840"/>
          </a:xfrm>
          <a:prstGeom prst="roundRect">
            <a:avLst>
              <a:gd name="adj" fmla="val 2979"/>
            </a:avLst>
          </a:prstGeom>
          <a:solidFill>
            <a:srgbClr val="EE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2706" y="1097280"/>
            <a:ext cx="64008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5586" y="1225296"/>
            <a:ext cx="2283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45586" y="1600200"/>
            <a:ext cx="228371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audits force organisations to reveal raw personal/financial records to auditors, creating breach risk and dependence on a trusted central party.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22492" y="1097280"/>
            <a:ext cx="2603754" cy="2148840"/>
          </a:xfrm>
          <a:prstGeom prst="roundRect">
            <a:avLst>
              <a:gd name="adj" fmla="val 2979"/>
            </a:avLst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2492" y="1097280"/>
            <a:ext cx="64008" cy="2148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5372" y="1225296"/>
            <a:ext cx="2283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5372" y="1600200"/>
            <a:ext cx="228371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each compliance rule as a zk-SNARK circuit; the data owner proves the rule holds and anchors the proof on a blockchain — without revealing the underlying 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82278" y="1097280"/>
            <a:ext cx="2603754" cy="2148840"/>
          </a:xfrm>
          <a:prstGeom prst="roundRect">
            <a:avLst>
              <a:gd name="adj" fmla="val 2979"/>
            </a:avLst>
          </a:prstGeom>
          <a:solidFill>
            <a:srgbClr val="FEF2F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82278" y="1097280"/>
            <a:ext cx="64008" cy="2148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65158" y="1225296"/>
            <a:ext cx="2283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65158" y="1600200"/>
            <a:ext cx="228371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prototype: selected compliance predicates, a permissioned/test blockchain network, and a Circom + snarkjs proving pipeline.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IDEA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56132" y="397764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6132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20924" y="4283964"/>
            <a:ext cx="292608" cy="164592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40964" y="397764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0964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05756" y="4283964"/>
            <a:ext cx="292608" cy="164592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25796" y="397764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25796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90588" y="4283964"/>
            <a:ext cx="292608" cy="164592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0628" y="397764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0628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075420" y="4283964"/>
            <a:ext cx="292608" cy="164592"/>
          </a:xfrm>
          <a:prstGeom prst="rightArrow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95460" y="3977640"/>
            <a:ext cx="1737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5875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95460" y="3977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5074920"/>
            <a:ext cx="11183112" cy="1051560"/>
          </a:xfrm>
          <a:prstGeom prst="roundRect">
            <a:avLst>
              <a:gd name="adj" fmla="val 6087"/>
            </a:avLst>
          </a:prstGeom>
          <a:solidFill>
            <a:srgbClr val="EBF8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0749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machine-verifiable compliance attestation — the regulator learns only that the stated rule is satisfied, backed by an immutable on-chain proof record.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compliance replaces "show us the data" with "prove the rule holds."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51560"/>
            <a:ext cx="7315200" cy="786384"/>
          </a:xfrm>
          <a:prstGeom prst="roundRect">
            <a:avLst>
              <a:gd name="adj" fmla="val 6977"/>
            </a:avLst>
          </a:prstGeom>
          <a:solidFill>
            <a:srgbClr val="EE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51560"/>
            <a:ext cx="64008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1247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•  PRESENTATION LAYER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39903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client &amp; regulator portal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submission UI  •  proof status  •  audit 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78224" y="1842516"/>
            <a:ext cx="164592" cy="82296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929384"/>
            <a:ext cx="7315200" cy="786384"/>
          </a:xfrm>
          <a:prstGeom prst="roundRect">
            <a:avLst>
              <a:gd name="adj" fmla="val 6977"/>
            </a:avLst>
          </a:prstGeom>
          <a:solidFill>
            <a:srgbClr val="EBF8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1929384"/>
            <a:ext cx="64008" cy="7863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00253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•  APPLICATION / API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227685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(Express) / FastAPI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47802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  •  orchestration  •  session mgmt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78224" y="2720340"/>
            <a:ext cx="164592" cy="82296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807208"/>
            <a:ext cx="7315200" cy="786384"/>
          </a:xfrm>
          <a:prstGeom prst="roundRect">
            <a:avLst>
              <a:gd name="adj" fmla="val 6977"/>
            </a:avLst>
          </a:prstGeom>
          <a:solidFill>
            <a:srgbClr val="FAF5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807208"/>
            <a:ext cx="64008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8803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•  ZKP ENGINE LAYER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31546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  +  </a:t>
            </a:r>
            <a:r>
              <a:rPr lang="en-US" sz="1100" b="1" dirty="0" err="1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Zsnarks</a:t>
            </a:r>
            <a:r>
              <a:rPr lang="en-US" sz="11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(Groth16)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35584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definition  •  witness gen  •  proof generation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78224" y="3598164"/>
            <a:ext cx="164592" cy="82296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85032"/>
            <a:ext cx="7315200" cy="786384"/>
          </a:xfrm>
          <a:prstGeom prst="roundRect">
            <a:avLst>
              <a:gd name="adj" fmla="val 6977"/>
            </a:avLst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685032"/>
            <a:ext cx="64008" cy="7863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75818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•  BLOCKCHAIN LAYER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403250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 •  </a:t>
            </a:r>
            <a:r>
              <a:rPr lang="en-US" sz="1100" b="1" dirty="0" err="1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Algorand</a:t>
            </a:r>
            <a:r>
              <a:rPr lang="en-US" sz="11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testnet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23367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proof verification  •  immutable anchoring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78224" y="4475988"/>
            <a:ext cx="164592" cy="82296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578898"/>
            <a:ext cx="7315200" cy="786384"/>
          </a:xfrm>
          <a:prstGeom prst="roundRect">
            <a:avLst>
              <a:gd name="adj" fmla="val 6977"/>
            </a:avLst>
          </a:prstGeom>
          <a:solidFill>
            <a:srgbClr val="FFF7E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562856"/>
            <a:ext cx="64008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63600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•  DATA &amp; STORAGE LAYER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1520" y="491032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MongoDB (encrypted)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511149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private data  •  metadata  •  key material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92440" y="1051560"/>
            <a:ext cx="3593592" cy="4297680"/>
          </a:xfrm>
          <a:prstGeom prst="roundRect">
            <a:avLst>
              <a:gd name="adj" fmla="val 1781"/>
            </a:avLst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123444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LAYERS INTERACT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1040" y="1581912"/>
            <a:ext cx="31363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 submits a compliance request to the API layer over HTTPS.</a:t>
            </a:r>
            <a:endParaRPr lang="en-US" sz="108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API layer builds circuit inputs and invokes the ZKP engine.</a:t>
            </a:r>
            <a:endParaRPr lang="en-US" sz="108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ZKP engine returns a zk-SNARK proof + public signals.</a:t>
            </a:r>
            <a:endParaRPr lang="en-US" sz="108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API layer sends the proof to the blockchain verifier contract.</a:t>
            </a:r>
            <a:endParaRPr lang="en-US" sz="108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Contract verifies the proof and anchors the result on-chain.</a:t>
            </a:r>
            <a:endParaRPr lang="en-US" sz="1080" dirty="0"/>
          </a:p>
          <a:p>
            <a:pPr marL="0" indent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Regulator/verifier reads the immutable on-chain attestation.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design isolates the cryptographic core (ZKP) from orchestration and ledger concerns.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component explanation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142916"/>
              </p:ext>
            </p:extLst>
          </p:nvPr>
        </p:nvGraphicFramePr>
        <p:xfrm>
          <a:off x="502920" y="1051560"/>
          <a:ext cx="11183112" cy="5074923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4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interacts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/ Regulator Portal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compliance requests; displays proof status and audit history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the API layer over REST / HTTPS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 &amp; Orchestrator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input, builds circuit parameters, manages the proof workflow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Invokes the ZKP engine; reads/writes the off-chain database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ZKP Engine (Circom + </a:t>
                      </a:r>
                      <a:r>
                        <a:rPr lang="en-US" sz="1070" b="1" dirty="0" err="1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Zsnarks</a:t>
                      </a: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Encodes the compliance rule as an arithmetic circuit and generates a Groth16 proof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proof + public signals to the orchestrator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 Verifier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Performs the on-chain pairing check that validates the submitted proof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proof from API layer; emits a verification event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 Ledger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proof hash, timestamp and verification result immutably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Queried by the regulator dashboard for audit trail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Off-chain Encrypted Store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private data and metadata that must never reach the chain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Accessed only by the API layer with access control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owns one responsibility and exposes a narrow, testable interface to its neighbours.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AF5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2576322" cy="1874520"/>
          </a:xfrm>
          <a:prstGeom prst="roundRect">
            <a:avLst>
              <a:gd name="adj" fmla="val 3415"/>
            </a:avLst>
          </a:prstGeom>
          <a:solidFill>
            <a:srgbClr val="EE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23444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" y="1673352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" y="2029968"/>
            <a:ext cx="2302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submits private compliance data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income, age, transaction record)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097530" y="1952244"/>
            <a:ext cx="256032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1850" y="1097280"/>
            <a:ext cx="2576322" cy="1874520"/>
          </a:xfrm>
          <a:prstGeom prst="roundRect">
            <a:avLst>
              <a:gd name="adj" fmla="val 3415"/>
            </a:avLst>
          </a:prstGeom>
          <a:solidFill>
            <a:srgbClr val="EBF8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18154" y="123444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8154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18154" y="1673352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18154" y="2029968"/>
            <a:ext cx="2302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validates input and sets the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compliance threshold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5966460" y="1952244"/>
            <a:ext cx="256032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0780" y="1097280"/>
            <a:ext cx="2576322" cy="1874520"/>
          </a:xfrm>
          <a:prstGeom prst="roundRect">
            <a:avLst>
              <a:gd name="adj" fmla="val 3415"/>
            </a:avLst>
          </a:prstGeom>
          <a:solidFill>
            <a:srgbClr val="FAF5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7084" y="123444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7084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87084" y="1673352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Generation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87084" y="2029968"/>
            <a:ext cx="2302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 engine computes a witness that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satisfies the compliance circuit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835390" y="1952244"/>
            <a:ext cx="256032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09710" y="1097280"/>
            <a:ext cx="2576322" cy="1874520"/>
          </a:xfrm>
          <a:prstGeom prst="roundRect">
            <a:avLst>
              <a:gd name="adj" fmla="val 3415"/>
            </a:avLst>
          </a:prstGeom>
          <a:solidFill>
            <a:srgbClr val="FAF5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56014" y="123444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6014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56014" y="1673352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Generation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56014" y="2029968"/>
            <a:ext cx="2302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snarkjs derives a zk-SNARK proof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(Groth16) using the proving key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10315575" y="2990088"/>
            <a:ext cx="164592" cy="329184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355848"/>
            <a:ext cx="2576322" cy="1874520"/>
          </a:xfrm>
          <a:prstGeom prst="roundRect">
            <a:avLst>
              <a:gd name="adj" fmla="val 3415"/>
            </a:avLst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" y="349300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9224" y="3931920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Submission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" y="4288536"/>
            <a:ext cx="2302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+ public inputs are sent to the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verifier contract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3097530" y="4210812"/>
            <a:ext cx="256032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71850" y="3355848"/>
            <a:ext cx="2576322" cy="1874520"/>
          </a:xfrm>
          <a:prstGeom prst="roundRect">
            <a:avLst>
              <a:gd name="adj" fmla="val 3415"/>
            </a:avLst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18154" y="349300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18154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518154" y="3931920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Verification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518154" y="4288536"/>
            <a:ext cx="2302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runs the pairing check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validate the proof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966460" y="4210812"/>
            <a:ext cx="256032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40780" y="3355848"/>
            <a:ext cx="2576322" cy="1874520"/>
          </a:xfrm>
          <a:prstGeom prst="roundRect">
            <a:avLst>
              <a:gd name="adj" fmla="val 3415"/>
            </a:avLst>
          </a:prstGeom>
          <a:solidFill>
            <a:srgbClr val="FFF7E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87084" y="349300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7084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387084" y="3931920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Anchoring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387084" y="4288536"/>
            <a:ext cx="2302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result and proof hash are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immutably on-chain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8835390" y="4210812"/>
            <a:ext cx="256032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09710" y="3355848"/>
            <a:ext cx="2576322" cy="1874520"/>
          </a:xfrm>
          <a:prstGeom prst="roundRect">
            <a:avLst>
              <a:gd name="adj" fmla="val 3415"/>
            </a:avLst>
          </a:prstGeom>
          <a:solidFill>
            <a:srgbClr val="FEF2F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56014" y="3493008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56014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9256014" y="3931920"/>
            <a:ext cx="2283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Result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256014" y="4288536"/>
            <a:ext cx="2302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queries the chain and receives</a:t>
            </a:r>
            <a:endParaRPr lang="en-US" sz="98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— no raw data disclosed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502920" y="562356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FAF5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rule: every on-chain record links back to a proof hash and public inputs, but never to the underlying private data.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stages carry the request from raw private data to a verifiable, privacy-preserving compliance result.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— Level 0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AF5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EEF2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966960" y="16916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0" y="16916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88920" y="1554480"/>
            <a:ext cx="1783080" cy="1280160"/>
          </a:xfrm>
          <a:prstGeom prst="ellipse">
            <a:avLst/>
          </a:prstGeom>
          <a:solidFill>
            <a:srgbClr val="EBF8F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55448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26864" y="2112264"/>
            <a:ext cx="393192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554480"/>
            <a:ext cx="1783080" cy="1280160"/>
          </a:xfrm>
          <a:prstGeom prst="ellipse">
            <a:avLst/>
          </a:prstGeom>
          <a:solidFill>
            <a:srgbClr val="FAF5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55448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12864" y="2112264"/>
            <a:ext cx="393192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1554480"/>
            <a:ext cx="1783080" cy="1280160"/>
          </a:xfrm>
          <a:prstGeom prst="ellipse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55448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240280" y="1856232"/>
            <a:ext cx="548640" cy="16459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1536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40280" y="2240280"/>
            <a:ext cx="548640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2505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status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198864" y="1856231"/>
            <a:ext cx="722376" cy="384047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444433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attestation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(proof reference, status)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566160" y="3429000"/>
            <a:ext cx="2103120" cy="594360"/>
          </a:xfrm>
          <a:prstGeom prst="rect">
            <a:avLst/>
          </a:prstGeom>
          <a:solidFill>
            <a:srgbClr val="FFF7E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429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| Off-chain Encrypted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06240" y="2834640"/>
            <a:ext cx="0" cy="59436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492240" y="3429000"/>
            <a:ext cx="2103120" cy="594360"/>
          </a:xfrm>
          <a:prstGeom prst="rect">
            <a:avLst/>
          </a:prstGeom>
          <a:solidFill>
            <a:srgbClr val="ECFDF5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429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| Blockchain Ledger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(proof + status records)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43800" y="2834640"/>
            <a:ext cx="0" cy="59436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02920" y="4526280"/>
            <a:ext cx="1118311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5262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entities: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Owner/User, Verifier/Regulator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layer, ZKP engine, Blockchain verifier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off-chain data, Blockchain ledger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 verifies compliance directly against the ledger — never against the owner's raw data.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5454396" cy="2331720"/>
          </a:xfrm>
          <a:prstGeom prst="roundRect">
            <a:avLst>
              <a:gd name="adj" fmla="val 2745"/>
            </a:avLst>
          </a:prstGeom>
          <a:solidFill>
            <a:srgbClr val="EE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2331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61871"/>
            <a:ext cx="5225796" cy="128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•  DATA INPUT &amp; PREPROCESSING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19" y="2167128"/>
            <a:ext cx="5155933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 •  schema mapping  •  sensitive-field encryption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1636" y="1097280"/>
            <a:ext cx="5454396" cy="2331720"/>
          </a:xfrm>
          <a:prstGeom prst="roundRect">
            <a:avLst>
              <a:gd name="adj" fmla="val 2745"/>
            </a:avLst>
          </a:prstGeom>
          <a:solidFill>
            <a:srgbClr val="FAF5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1636" y="1097280"/>
            <a:ext cx="64008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0236" y="1261871"/>
            <a:ext cx="5244084" cy="1344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•  ZKP CIRCUIT &amp; PROOF GENERATION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0236" y="1828800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60236" y="2194560"/>
            <a:ext cx="50429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 circuit design  •  witness computation  •  Groth16 proof generation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5454396" cy="2331720"/>
          </a:xfrm>
          <a:prstGeom prst="roundRect">
            <a:avLst>
              <a:gd name="adj" fmla="val 2745"/>
            </a:avLst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03320"/>
            <a:ext cx="64008" cy="2331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867911"/>
            <a:ext cx="5618988" cy="146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•  BLOCKCHAIN SMART CONTRACT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800600"/>
            <a:ext cx="50429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verifier contract  •  testnet deployment  •  proof anchoring &amp; events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1636" y="3703320"/>
            <a:ext cx="5454396" cy="2331720"/>
          </a:xfrm>
          <a:prstGeom prst="roundRect">
            <a:avLst>
              <a:gd name="adj" fmla="val 2745"/>
            </a:avLst>
          </a:prstGeom>
          <a:solidFill>
            <a:srgbClr val="FFF7E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1636" y="3703320"/>
            <a:ext cx="64008" cy="2331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0236" y="3867912"/>
            <a:ext cx="5244084" cy="146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•  VERIFICATION &amp; COMPLIANCE DASHBOARD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60236" y="4434840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60236" y="4800600"/>
            <a:ext cx="50429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dashboard  •  on-chain status query  •  audit trail reporting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Team-lead responsibility: define module interfaces and ensure every member can explain the full pipeline.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interaction / internal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CALL SEQUENCE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EF2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1815084"/>
            <a:ext cx="411480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4173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AF5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173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 Engine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40680" y="1815084"/>
            <a:ext cx="411480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4173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14173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815084"/>
            <a:ext cx="411480" cy="164592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41732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4173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97480"/>
          <a:ext cx="11183112" cy="32461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/submit-data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compliance data + user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payload + request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/generate-proof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 inputs + circuit 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zk-SNARK proof + public signals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submitProof() [contract]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+ public inputs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boolean + on-chain event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/verify-status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/ transaction hash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status + audit 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/audit-report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ID / date 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aggregated compliance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interface contracts let modules M1–M4 be built and unit-tested in parallel.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544824" cy="1691640"/>
          </a:xfrm>
          <a:prstGeom prst="roundRect">
            <a:avLst>
              <a:gd name="adj" fmla="val 3784"/>
            </a:avLst>
          </a:prstGeom>
          <a:solidFill>
            <a:srgbClr val="EE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43584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" y="155448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MongoDB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21488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off-chain storage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2064" y="1097280"/>
            <a:ext cx="3544824" cy="1691640"/>
          </a:xfrm>
          <a:prstGeom prst="roundRect">
            <a:avLst>
              <a:gd name="adj" fmla="val 3784"/>
            </a:avLst>
          </a:prstGeom>
          <a:solidFill>
            <a:srgbClr val="FAF5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2064" y="109728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3232" y="1243584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 CORE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3232" y="155448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Circom + snarkjs (Groth16)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3232" y="21488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 &amp; proof generation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41208" y="1097280"/>
            <a:ext cx="3544824" cy="1691640"/>
          </a:xfrm>
          <a:prstGeom prst="roundRect">
            <a:avLst>
              <a:gd name="adj" fmla="val 3784"/>
            </a:avLst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1208" y="109728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2376" y="1243584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42376" y="155448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 err="1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Algorand</a:t>
            </a:r>
            <a:r>
              <a:rPr lang="en-US" sz="13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2376" y="214884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smart contract, testnet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063240"/>
            <a:ext cx="3544824" cy="1691640"/>
          </a:xfrm>
          <a:prstGeom prst="roundRect">
            <a:avLst>
              <a:gd name="adj" fmla="val 3784"/>
            </a:avLst>
          </a:prstGeom>
          <a:solidFill>
            <a:srgbClr val="EBF8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06324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209544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4088" y="352044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(Express) / FastAPI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" y="411480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&amp; workflow control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22064" y="3063240"/>
            <a:ext cx="3544824" cy="1691640"/>
          </a:xfrm>
          <a:prstGeom prst="roundRect">
            <a:avLst>
              <a:gd name="adj" fmla="val 3784"/>
            </a:avLst>
          </a:prstGeom>
          <a:solidFill>
            <a:srgbClr val="FFF7E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2064" y="3063240"/>
            <a:ext cx="64008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3232" y="3209544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23232" y="352044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23232" y="411480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regulator dashboards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41208" y="3063240"/>
            <a:ext cx="3544824" cy="1691640"/>
          </a:xfrm>
          <a:prstGeom prst="roundRect">
            <a:avLst>
              <a:gd name="adj" fmla="val 3784"/>
            </a:avLst>
          </a:prstGeom>
          <a:solidFill>
            <a:srgbClr val="FEF2F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41208" y="3063240"/>
            <a:ext cx="64008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2376" y="3209544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INTEGRATION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42376" y="352044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42376" y="4114800"/>
            <a:ext cx="317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&amp; contract interaction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model/library versions will be frozen after benchmarking proof time, gas cost and licence fit.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privacy &amp; compliance mechanism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544824" cy="1965960"/>
          </a:xfrm>
          <a:prstGeom prst="roundRect">
            <a:avLst>
              <a:gd name="adj" fmla="val 3256"/>
            </a:avLst>
          </a:prstGeom>
          <a:solidFill>
            <a:srgbClr val="FAF5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43584"/>
            <a:ext cx="319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PROPERTY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319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reveals nothing beyond the validity of the compliance statement — completeness, soundness and zero-knowledge all hold.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22064" y="1097280"/>
            <a:ext cx="3544824" cy="1965960"/>
          </a:xfrm>
          <a:prstGeom prst="roundRect">
            <a:avLst>
              <a:gd name="adj" fmla="val 3256"/>
            </a:avLst>
          </a:prstGeom>
          <a:solidFill>
            <a:srgbClr val="EE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2064" y="1097280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4944" y="1243584"/>
            <a:ext cx="319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MINIMISATION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04944" y="1755648"/>
            <a:ext cx="319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personal / financial data never leaves the owner's environment or the encrypted off-chain store.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41208" y="1097280"/>
            <a:ext cx="3544824" cy="1965960"/>
          </a:xfrm>
          <a:prstGeom prst="roundRect">
            <a:avLst>
              <a:gd name="adj" fmla="val 3256"/>
            </a:avLst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1208" y="1097280"/>
            <a:ext cx="64008" cy="196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4088" y="1243584"/>
            <a:ext cx="319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&amp; AUDITABILITY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4088" y="1755648"/>
            <a:ext cx="319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blockchain ledger gives a tamper-evident, timestamped trail of every compliance check performed.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02920" y="3337560"/>
            <a:ext cx="3544824" cy="1965960"/>
          </a:xfrm>
          <a:prstGeom prst="roundRect">
            <a:avLst>
              <a:gd name="adj" fmla="val 3256"/>
            </a:avLst>
          </a:prstGeom>
          <a:solidFill>
            <a:srgbClr val="FFF7E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37560"/>
            <a:ext cx="64008" cy="1965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83864"/>
            <a:ext cx="319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995928"/>
            <a:ext cx="319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GDPR data-minimisation, HIPAA minimum-necessary use, and KYC threshold-verification requirements.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322064" y="3337560"/>
            <a:ext cx="3544824" cy="1965960"/>
          </a:xfrm>
          <a:prstGeom prst="roundRect">
            <a:avLst>
              <a:gd name="adj" fmla="val 3256"/>
            </a:avLst>
          </a:prstGeom>
          <a:solidFill>
            <a:srgbClr val="EBF8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22064" y="3337560"/>
            <a:ext cx="64008" cy="1965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4944" y="3483864"/>
            <a:ext cx="319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04944" y="3995928"/>
            <a:ext cx="319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to the regulator dashboard; AES-encrypted storage for all off-chain private data.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8141208" y="3337560"/>
            <a:ext cx="3544824" cy="1965960"/>
          </a:xfrm>
          <a:prstGeom prst="roundRect">
            <a:avLst>
              <a:gd name="adj" fmla="val 3256"/>
            </a:avLst>
          </a:prstGeom>
          <a:solidFill>
            <a:srgbClr val="FEF2F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41208" y="3337560"/>
            <a:ext cx="64008" cy="1965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4088" y="3483864"/>
            <a:ext cx="319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MODEL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24088" y="3995928"/>
            <a:ext cx="319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trusts the cryptographic proof itself — not the data owner and not a central authority.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auditability are engineered together, not traded off against each other.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/ current progress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EBF8FA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83112" cy="28803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/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correctness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proof verify only genuinely valid compliance claims?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Groth16 soundness checks; circuit unit tests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leakage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any private input exposed through the proof or public signals?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+ automated leakage review of circuit outputs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cost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fast and how expensive is on-chain verification?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Testnet gas profiling; verification latency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constraint count affect proof-generation time?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across sample compliance rules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b="1" dirty="0">
                          <a:solidFill>
                            <a:srgbClr val="0F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a non-technical auditor read the compliance result?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Regulator-dashboard walkthrough &amp; review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4434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finalised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4517136"/>
            <a:ext cx="6217920" cy="201168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4517136"/>
            <a:ext cx="6217920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9"/>
          <p:cNvSpPr/>
          <p:nvPr/>
        </p:nvSpPr>
        <p:spPr>
          <a:xfrm>
            <a:off x="10927080" y="4434840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49286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ZKP circuit design in progress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5010912"/>
            <a:ext cx="6217920" cy="201168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5010912"/>
            <a:ext cx="3419856" cy="20116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27080" y="4928616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5422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contract skeleton on testnet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5504688"/>
            <a:ext cx="6217920" cy="201168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0" y="5504688"/>
            <a:ext cx="2487168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27080" y="5422392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2920" y="59161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wireframes complete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0" y="5998464"/>
            <a:ext cx="6217920" cy="201168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5998464"/>
            <a:ext cx="4041648" cy="20116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927080" y="5916168"/>
            <a:ext cx="75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reflects design and prototyping milestones completed to date; figures will be updated with measured benchmarks at Review III.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Review-ready conclusion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21240" y="310896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9525">
            <a:solidFill>
              <a:srgbClr val="0F28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21240" y="310896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F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11183112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3544824" cy="2286000"/>
          </a:xfrm>
          <a:prstGeom prst="roundRect">
            <a:avLst>
              <a:gd name="adj" fmla="val 2800"/>
            </a:avLst>
          </a:prstGeom>
          <a:solidFill>
            <a:srgbClr val="EE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61872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1645920"/>
            <a:ext cx="3179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five-layer design isolates presentation, orchestration, the ZKP engine, the blockchain and encrypted storage.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2064" y="1097280"/>
            <a:ext cx="3544824" cy="2286000"/>
          </a:xfrm>
          <a:prstGeom prst="roundRect">
            <a:avLst>
              <a:gd name="adj" fmla="val 2800"/>
            </a:avLst>
          </a:prstGeom>
          <a:solidFill>
            <a:srgbClr val="FAF5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2064" y="1097280"/>
            <a:ext cx="64008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3232" y="1261872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3232" y="1645920"/>
            <a:ext cx="3179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moves through eight traceable stages from private input to an on-chain, privacy-preserving result.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41208" y="1097280"/>
            <a:ext cx="3544824" cy="2286000"/>
          </a:xfrm>
          <a:prstGeom prst="roundRect">
            <a:avLst>
              <a:gd name="adj" fmla="val 2800"/>
            </a:avLst>
          </a:prstGeom>
          <a:solidFill>
            <a:srgbClr val="ECFD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41208" y="1097280"/>
            <a:ext cx="64008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2376" y="1261872"/>
            <a:ext cx="317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42376" y="1645920"/>
            <a:ext cx="3179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owned modules communicate through explicit interfaces and can be built and tested independently.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7033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“Compliance is proved cryptographically and anchored immutably — the regulator is convinced without ever seeing the underlying private data.”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51663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finalise the compliance circuit, complete testnet deployment and begin benchmarking for Review III.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proofs let compliance be demonstrated without disclosure — privacy and trust, together.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5568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4364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14364E"/>
          </a:solidFill>
          <a:ln/>
        </p:spPr>
      </p:sp>
      <p:sp>
        <p:nvSpPr>
          <p:cNvPr id="5" name="Shape 3"/>
          <p:cNvSpPr/>
          <p:nvPr/>
        </p:nvSpPr>
        <p:spPr>
          <a:xfrm>
            <a:off x="4929988" y="38404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193E58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29988" y="3840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II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0" y="33375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38248" y="4160520"/>
            <a:ext cx="7315200" cy="0"/>
          </a:xfrm>
          <a:prstGeom prst="line">
            <a:avLst/>
          </a:prstGeom>
          <a:noFill/>
          <a:ln w="12700">
            <a:solidFill>
              <a:srgbClr val="2859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Prem Kumar (Lead)   •   N. Rakesh Chary   •   K. Shivamani   •   G. Shashank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47548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M. Chalapathi Rao   |   Department of AI &amp; ML   |   KPRIT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0" y="51663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Knowledge Proof Based Privacy Compliance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1574</Words>
  <Application>Microsoft Office PowerPoint</Application>
  <PresentationFormat>Widescreen</PresentationFormat>
  <Paragraphs>288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PREM KUMAR</cp:lastModifiedBy>
  <cp:revision>3</cp:revision>
  <dcterms:created xsi:type="dcterms:W3CDTF">2026-09-26T01:37:56Z</dcterms:created>
  <dcterms:modified xsi:type="dcterms:W3CDTF">2026-09-26T09:57:18Z</dcterms:modified>
</cp:coreProperties>
</file>